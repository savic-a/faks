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310" r:id="rId3"/>
    <p:sldId id="344" r:id="rId4"/>
    <p:sldId id="302" r:id="rId5"/>
    <p:sldId id="345" r:id="rId6"/>
    <p:sldId id="298" r:id="rId7"/>
    <p:sldId id="257" r:id="rId8"/>
  </p:sldIdLst>
  <p:sldSz cx="9144000" cy="6858000" type="screen4x3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332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10CEE-4163-491D-A769-FB0D35D8673E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3E420-4ABE-4761-89B2-2CA56881B0A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66557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59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r-Latn-RS" altLang="sr-Latn-R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r-Latn-R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263690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316870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016184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38552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9314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06327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10459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66456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R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541449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65599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052913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75225-17D4-4FB6-9B56-89599F83BCB2}" type="datetimeFigureOut">
              <a:rPr lang="sr-Latn-RS" smtClean="0"/>
              <a:t>12.11.2020.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2E4B1-0CCF-418B-8A58-39C402A63CB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56277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Predavanja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/>
              <a:t>Vežba: projektovanje meta-modela</a:t>
            </a:r>
          </a:p>
        </p:txBody>
      </p:sp>
    </p:spTree>
    <p:extLst>
      <p:ext uri="{BB962C8B-B14F-4D97-AF65-F5344CB8AC3E}">
        <p14:creationId xmlns:p14="http://schemas.microsoft.com/office/powerpoint/2010/main" val="2958973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0861710-0EC3-45CE-AF62-E227CBA632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sr-Latn-RS" sz="4000"/>
              <a:t>MDE model</a:t>
            </a:r>
            <a:endParaRPr lang="sr-Latn-CS" altLang="sr-Latn-RS" sz="400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2F845C0-283C-4B04-AEE6-8D5D1111D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 sz="2800" dirty="0"/>
              <a:t>U </a:t>
            </a:r>
            <a:r>
              <a:rPr lang="en-US" altLang="sr-Latn-RS" sz="2800" dirty="0" err="1"/>
              <a:t>kontek</a:t>
            </a:r>
            <a:r>
              <a:rPr lang="sr-Latn-CS" altLang="sr-Latn-RS" sz="2800" dirty="0"/>
              <a:t>s</a:t>
            </a:r>
            <a:r>
              <a:rPr lang="en-US" altLang="sr-Latn-RS" sz="2800" dirty="0" err="1"/>
              <a:t>tu</a:t>
            </a:r>
            <a:r>
              <a:rPr lang="en-US" altLang="sr-Latn-RS" sz="2800" dirty="0"/>
              <a:t> MDE, model je </a:t>
            </a:r>
            <a:r>
              <a:rPr lang="en-US" altLang="sr-Latn-RS" sz="2800" dirty="0" err="1"/>
              <a:t>opis</a:t>
            </a:r>
            <a:r>
              <a:rPr lang="en-US" altLang="sr-Latn-RS" sz="2800" dirty="0"/>
              <a:t> </a:t>
            </a:r>
            <a:r>
              <a:rPr lang="en-US" altLang="sr-Latn-RS" sz="2800" dirty="0" err="1"/>
              <a:t>sistema</a:t>
            </a:r>
            <a:r>
              <a:rPr lang="en-US" altLang="sr-Latn-RS" sz="2800" dirty="0"/>
              <a:t> </a:t>
            </a:r>
            <a:r>
              <a:rPr lang="en-US" altLang="sr-Latn-RS" sz="2800" dirty="0" err="1"/>
              <a:t>ili</a:t>
            </a:r>
            <a:r>
              <a:rPr lang="en-US" altLang="sr-Latn-RS" sz="2800" dirty="0"/>
              <a:t> </a:t>
            </a:r>
            <a:r>
              <a:rPr lang="en-US" altLang="sr-Latn-RS" sz="2800" dirty="0" err="1"/>
              <a:t>dela</a:t>
            </a:r>
            <a:r>
              <a:rPr lang="en-US" altLang="sr-Latn-RS" sz="2800" dirty="0"/>
              <a:t> </a:t>
            </a:r>
            <a:r>
              <a:rPr lang="en-US" altLang="sr-Latn-RS" sz="2800" dirty="0" err="1"/>
              <a:t>sistema</a:t>
            </a:r>
            <a:r>
              <a:rPr lang="en-US" altLang="sr-Latn-RS" sz="2800" dirty="0"/>
              <a:t> za</a:t>
            </a:r>
            <a:r>
              <a:rPr lang="sr-Latn-CS" altLang="sr-Latn-RS" sz="2800" dirty="0"/>
              <a:t>pisan korišćenjem </a:t>
            </a:r>
            <a:r>
              <a:rPr lang="sr-Latn-CS" altLang="sr-Latn-RS" sz="2800" b="1" dirty="0"/>
              <a:t>dobro definisanog jezika </a:t>
            </a:r>
            <a:r>
              <a:rPr lang="sr-Latn-CS" altLang="sr-Latn-RS" sz="2800" dirty="0"/>
              <a:t>koji podržava automatsku interpretaciju od strane računara</a:t>
            </a:r>
            <a:r>
              <a:rPr lang="en-US" altLang="sr-Latn-RS" sz="2800" dirty="0"/>
              <a:t>.</a:t>
            </a:r>
            <a:r>
              <a:rPr lang="sr-Latn-CS" altLang="sr-Latn-RS" sz="2800" dirty="0"/>
              <a:t> </a:t>
            </a:r>
            <a:endParaRPr lang="en-US" altLang="sr-Latn-RS" sz="2800" dirty="0"/>
          </a:p>
          <a:p>
            <a:pPr eaLnBrk="1" hangingPunct="1"/>
            <a:endParaRPr lang="en-US" altLang="sr-Latn-R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A1CC37F-11FB-493E-84A4-C05AF1888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 dirty="0"/>
              <a:t>Dobro definisan jezik</a:t>
            </a:r>
            <a:endParaRPr lang="sr-Latn-CS" altLang="sr-Latn-R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F77C397-1B66-48A6-B563-6E8A54D47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Apstraktna sintaksa (metamodel)</a:t>
            </a:r>
          </a:p>
          <a:p>
            <a:pPr eaLnBrk="1" hangingPunct="1"/>
            <a:r>
              <a:rPr lang="en-US" altLang="sr-Latn-RS"/>
              <a:t>Konkretna sintaksa (prezentacija)</a:t>
            </a:r>
          </a:p>
          <a:p>
            <a:pPr eaLnBrk="1" hangingPunct="1"/>
            <a:r>
              <a:rPr lang="sr-Latn-RS" altLang="sr-Latn-RS"/>
              <a:t>Statička semantika</a:t>
            </a:r>
            <a:r>
              <a:rPr lang="en-US" altLang="sr-Latn-RS"/>
              <a:t> (well formedness rules) </a:t>
            </a:r>
          </a:p>
          <a:p>
            <a:pPr eaLnBrk="1" hangingPunct="1"/>
            <a:r>
              <a:rPr lang="en-US" altLang="sr-Latn-RS"/>
              <a:t>Operativna semantika (kako se preslikava na konstrukcije ciljnog jezika)</a:t>
            </a:r>
            <a:endParaRPr lang="sr-Latn-CS" altLang="sr-Latn-R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F236B5C-06AA-48AE-887B-AEC21938F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sr-Latn-CS" altLang="sr-Latn-RS" sz="4000"/>
              <a:t>Primer 2: odnos modela i metamodela</a:t>
            </a:r>
          </a:p>
        </p:txBody>
      </p:sp>
      <p:pic>
        <p:nvPicPr>
          <p:cNvPr id="32771" name="Picture 4">
            <a:extLst>
              <a:ext uri="{FF2B5EF4-FFF2-40B4-BE49-F238E27FC236}">
                <a16:creationId xmlns:a16="http://schemas.microsoft.com/office/drawing/2014/main" id="{17A6E747-87F1-4996-AC3E-BE2C69BC6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30300"/>
            <a:ext cx="6840538" cy="572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Rectangle 5">
            <a:extLst>
              <a:ext uri="{FF2B5EF4-FFF2-40B4-BE49-F238E27FC236}">
                <a16:creationId xmlns:a16="http://schemas.microsoft.com/office/drawing/2014/main" id="{BDB47EA1-D338-46F9-99CF-810BFD71E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6165850"/>
            <a:ext cx="287337" cy="215900"/>
          </a:xfrm>
          <a:prstGeom prst="rect">
            <a:avLst/>
          </a:prstGeom>
          <a:solidFill>
            <a:srgbClr val="FFFC1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32773" name="Rectangle 6">
            <a:extLst>
              <a:ext uri="{FF2B5EF4-FFF2-40B4-BE49-F238E27FC236}">
                <a16:creationId xmlns:a16="http://schemas.microsoft.com/office/drawing/2014/main" id="{D9BA4208-B57F-4CC8-9C64-359954039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6453188"/>
            <a:ext cx="287337" cy="215900"/>
          </a:xfrm>
          <a:prstGeom prst="rect">
            <a:avLst/>
          </a:prstGeom>
          <a:solidFill>
            <a:srgbClr val="89E25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/>
          </a:p>
        </p:txBody>
      </p:sp>
      <p:sp>
        <p:nvSpPr>
          <p:cNvPr id="32774" name="Text Box 7">
            <a:extLst>
              <a:ext uri="{FF2B5EF4-FFF2-40B4-BE49-F238E27FC236}">
                <a16:creationId xmlns:a16="http://schemas.microsoft.com/office/drawing/2014/main" id="{DC345742-9FE3-4AA8-8DBF-40EA2BD4C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6092825"/>
            <a:ext cx="23050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600"/>
              <a:t>Metaklasa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600"/>
              <a:t>Klasa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5288-521B-412E-A231-C23252D77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838200"/>
          </a:xfrm>
        </p:spPr>
        <p:txBody>
          <a:bodyPr>
            <a:normAutofit/>
          </a:bodyPr>
          <a:lstStyle/>
          <a:p>
            <a:r>
              <a:rPr lang="sr-Latn-RS" sz="3600" dirty="0">
                <a:latin typeface="Arial Narrow" panose="020B0606020202030204" pitchFamily="34" charset="0"/>
                <a:cs typeface="Arial" panose="020B0604020202020204" pitchFamily="34" charset="0"/>
              </a:rPr>
              <a:t>Pojednostavljeni meta-model UML dijagrama klasa</a:t>
            </a:r>
            <a:endParaRPr lang="en-US" sz="36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E5836D1-D954-4AC1-81FB-BE33F74C9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838200"/>
            <a:ext cx="9012819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65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C9E9006-A048-4A52-BC83-A09D809AF8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-242888"/>
            <a:ext cx="8229600" cy="1143001"/>
          </a:xfrm>
        </p:spPr>
        <p:txBody>
          <a:bodyPr/>
          <a:lstStyle/>
          <a:p>
            <a:pPr algn="l" eaLnBrk="1" hangingPunct="1"/>
            <a:r>
              <a:rPr lang="en-US" altLang="sr-Latn-RS" sz="4000"/>
              <a:t>Primer </a:t>
            </a:r>
            <a:r>
              <a:rPr lang="sr-Latn-RS" altLang="sr-Latn-RS" sz="4000"/>
              <a:t>3</a:t>
            </a:r>
            <a:r>
              <a:rPr lang="en-US" altLang="sr-Latn-RS" sz="4000"/>
              <a:t>: Deo CWM metamodela</a:t>
            </a:r>
            <a:endParaRPr lang="sr-Latn-CS" altLang="sr-Latn-RS" sz="4000"/>
          </a:p>
        </p:txBody>
      </p:sp>
      <p:pic>
        <p:nvPicPr>
          <p:cNvPr id="33795" name="Picture 9">
            <a:extLst>
              <a:ext uri="{FF2B5EF4-FFF2-40B4-BE49-F238E27FC236}">
                <a16:creationId xmlns:a16="http://schemas.microsoft.com/office/drawing/2014/main" id="{76EF5D66-42C9-4785-B7BA-58CEA684E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14400"/>
            <a:ext cx="80391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549275"/>
            <a:ext cx="8228013" cy="866775"/>
          </a:xfrm>
        </p:spPr>
        <p:txBody>
          <a:bodyPr/>
          <a:lstStyle/>
          <a:p>
            <a:pPr algn="l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sr-Latn-RS"/>
              <a:t>Vežba</a:t>
            </a: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8013" cy="5291138"/>
          </a:xfrm>
        </p:spPr>
        <p:txBody>
          <a:bodyPr>
            <a:normAutofit/>
          </a:bodyPr>
          <a:lstStyle/>
          <a:p>
            <a:pPr indent="-334963"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sr-Latn-RS" sz="1800" dirty="0" err="1"/>
              <a:t>Projektovati</a:t>
            </a:r>
            <a:r>
              <a:rPr lang="en-US" altLang="sr-Latn-RS" sz="1800" dirty="0"/>
              <a:t> </a:t>
            </a:r>
            <a:r>
              <a:rPr lang="en-US" altLang="sr-Latn-RS" sz="1800" dirty="0" err="1"/>
              <a:t>metamodel</a:t>
            </a:r>
            <a:r>
              <a:rPr lang="en-US" altLang="sr-Latn-RS" sz="1800" dirty="0"/>
              <a:t> </a:t>
            </a:r>
            <a:r>
              <a:rPr lang="en-US" altLang="sr-Latn-RS" sz="1800" dirty="0" err="1"/>
              <a:t>za</a:t>
            </a:r>
            <a:r>
              <a:rPr lang="en-US" altLang="sr-Latn-RS" sz="1800" dirty="0"/>
              <a:t> </a:t>
            </a:r>
            <a:r>
              <a:rPr lang="en-US" altLang="sr-Latn-RS" sz="1800" dirty="0" err="1"/>
              <a:t>jezik</a:t>
            </a:r>
            <a:r>
              <a:rPr lang="en-US" altLang="sr-Latn-RS" sz="1800" dirty="0"/>
              <a:t> </a:t>
            </a:r>
            <a:r>
              <a:rPr lang="en-US" altLang="sr-Latn-RS" sz="1800" dirty="0" err="1"/>
              <a:t>za</a:t>
            </a:r>
            <a:r>
              <a:rPr lang="en-US" altLang="sr-Latn-RS" sz="1800" dirty="0"/>
              <a:t> </a:t>
            </a:r>
            <a:r>
              <a:rPr lang="en-US" altLang="sr-Latn-RS" sz="1800" dirty="0" err="1"/>
              <a:t>crtanje</a:t>
            </a:r>
            <a:r>
              <a:rPr lang="en-US" altLang="sr-Latn-RS" sz="1800" dirty="0"/>
              <a:t> </a:t>
            </a:r>
            <a:r>
              <a:rPr lang="en-US" altLang="sr-Latn-RS" sz="1800" dirty="0" err="1"/>
              <a:t>blok</a:t>
            </a:r>
            <a:r>
              <a:rPr lang="en-US" altLang="sr-Latn-RS" sz="1800" dirty="0"/>
              <a:t> </a:t>
            </a:r>
          </a:p>
          <a:p>
            <a:pPr marL="7937" indent="0"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sr-Latn-RS" sz="1800" dirty="0"/>
              <a:t>	</a:t>
            </a:r>
            <a:r>
              <a:rPr lang="en-US" altLang="sr-Latn-RS" sz="1800" dirty="0" err="1"/>
              <a:t>dijagrama</a:t>
            </a:r>
            <a:r>
              <a:rPr lang="en-US" altLang="sr-Latn-RS" sz="1800" dirty="0"/>
              <a:t> </a:t>
            </a:r>
            <a:r>
              <a:rPr lang="en-US" altLang="sr-Latn-RS" sz="1800" dirty="0" err="1"/>
              <a:t>algoritama</a:t>
            </a:r>
            <a:r>
              <a:rPr lang="en-US" altLang="sr-Latn-RS" sz="1800" dirty="0"/>
              <a:t>. </a:t>
            </a:r>
          </a:p>
          <a:p>
            <a:pPr indent="-334963"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sr-Latn-RS" sz="1800" dirty="0" err="1"/>
              <a:t>Domen</a:t>
            </a:r>
            <a:r>
              <a:rPr lang="en-US" altLang="sr-Latn-RS" sz="1800" dirty="0"/>
              <a:t> je </a:t>
            </a:r>
            <a:r>
              <a:rPr lang="en-US" altLang="sr-Latn-RS" sz="1800" dirty="0" err="1"/>
              <a:t>ograni</a:t>
            </a:r>
            <a:r>
              <a:rPr lang="sr-Latn-RS" altLang="sr-Latn-RS" sz="1800" dirty="0"/>
              <a:t>čen na algoritme kojima se </a:t>
            </a:r>
            <a:endParaRPr lang="en-US" altLang="sr-Latn-RS" sz="1800" dirty="0"/>
          </a:p>
          <a:p>
            <a:pPr marL="7937" indent="0"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sr-Latn-RS" sz="1800" dirty="0"/>
              <a:t>	</a:t>
            </a:r>
            <a:r>
              <a:rPr lang="sr-Latn-RS" altLang="sr-Latn-RS" sz="1800" dirty="0"/>
              <a:t>opisuje računanje</a:t>
            </a:r>
            <a:r>
              <a:rPr lang="en-US" altLang="sr-Latn-RS" sz="1800" dirty="0"/>
              <a:t> </a:t>
            </a:r>
            <a:r>
              <a:rPr lang="sr-Latn-RS" altLang="sr-Latn-RS" sz="1800" dirty="0"/>
              <a:t>matematičkih izraza.</a:t>
            </a:r>
          </a:p>
          <a:p>
            <a:pPr indent="-334963"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sr-Latn-RS" altLang="sr-Latn-RS" sz="1800" dirty="0"/>
              <a:t>Dozvoljeni operatori u matematičkim </a:t>
            </a:r>
            <a:r>
              <a:rPr lang="en-US" altLang="sr-Latn-RS" sz="1800" dirty="0" err="1"/>
              <a:t>i</a:t>
            </a:r>
            <a:r>
              <a:rPr lang="sr-Latn-RS" altLang="sr-Latn-RS" sz="1800" dirty="0"/>
              <a:t>zrazima: +, -, *, /</a:t>
            </a:r>
          </a:p>
          <a:p>
            <a:pPr indent="-334963"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sr-Latn-RS" altLang="sr-Latn-RS" sz="1800" dirty="0"/>
              <a:t>Dozvoljeni tipovi operanda: integer i float</a:t>
            </a:r>
          </a:p>
          <a:p>
            <a:pPr indent="-334963"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sr-Latn-RS" altLang="sr-Latn-RS" sz="1800" dirty="0"/>
              <a:t>Dozvoljeni operatori poređenja u iskazu </a:t>
            </a:r>
            <a:endParaRPr lang="en-US" altLang="sr-Latn-RS" sz="1800" dirty="0"/>
          </a:p>
          <a:p>
            <a:pPr marL="7937" indent="0"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sr-Latn-RS" sz="1800" dirty="0"/>
              <a:t>	</a:t>
            </a:r>
            <a:r>
              <a:rPr lang="sr-Latn-RS" altLang="sr-Latn-RS" sz="1800" dirty="0"/>
              <a:t>grananja: </a:t>
            </a:r>
            <a:r>
              <a:rPr lang="en-US" altLang="sr-Latn-RS" sz="1800" dirty="0"/>
              <a:t>==, !=, &gt;, &gt;=, &lt;, &lt;=</a:t>
            </a:r>
          </a:p>
          <a:p>
            <a:pPr marL="7937" indent="0"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altLang="sr-Latn-RS" sz="1800" dirty="0"/>
          </a:p>
          <a:p>
            <a:pPr marL="7937" indent="0"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sr-Latn-RS" sz="1800" dirty="0" err="1"/>
              <a:t>Metamodel</a:t>
            </a:r>
            <a:r>
              <a:rPr lang="en-US" altLang="sr-Latn-RS" sz="1800" dirty="0"/>
              <a:t> </a:t>
            </a:r>
            <a:r>
              <a:rPr lang="en-US" altLang="sr-Latn-RS" sz="1800" dirty="0" err="1"/>
              <a:t>treba</a:t>
            </a:r>
            <a:r>
              <a:rPr lang="en-US" altLang="sr-Latn-RS" sz="1800" dirty="0"/>
              <a:t> </a:t>
            </a:r>
            <a:r>
              <a:rPr lang="en-US" altLang="sr-Latn-RS" sz="1800" dirty="0" err="1"/>
              <a:t>tako</a:t>
            </a:r>
            <a:r>
              <a:rPr lang="en-US" altLang="sr-Latn-RS" sz="1800" dirty="0"/>
              <a:t> </a:t>
            </a:r>
            <a:r>
              <a:rPr lang="en-US" altLang="sr-Latn-RS" sz="1800" dirty="0" err="1"/>
              <a:t>isprojektovati</a:t>
            </a:r>
            <a:r>
              <a:rPr lang="en-US" altLang="sr-Latn-RS" sz="1800" dirty="0"/>
              <a:t> da </a:t>
            </a:r>
          </a:p>
          <a:p>
            <a:pPr marL="7937" indent="0"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sr-Latn-RS" altLang="sr-Latn-RS" sz="1800" dirty="0"/>
              <a:t>model baziran na datom meta-modelu (</a:t>
            </a:r>
            <a:r>
              <a:rPr lang="en-US" altLang="sr-Latn-RS" sz="1800" dirty="0" err="1"/>
              <a:t>algoritam</a:t>
            </a:r>
            <a:r>
              <a:rPr lang="sr-Latn-RS" altLang="sr-Latn-RS" sz="1800" dirty="0"/>
              <a:t>)</a:t>
            </a:r>
          </a:p>
          <a:p>
            <a:pPr marL="7937" indent="0"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altLang="sr-Latn-RS" sz="1800" dirty="0" err="1"/>
              <a:t>mo</a:t>
            </a:r>
            <a:r>
              <a:rPr lang="sr-Latn-RS" altLang="sr-Latn-RS" sz="1800" dirty="0"/>
              <a:t>ž</a:t>
            </a:r>
            <a:r>
              <a:rPr lang="en-US" altLang="sr-Latn-RS" sz="1800" dirty="0"/>
              <a:t>e da </a:t>
            </a:r>
            <a:r>
              <a:rPr lang="en-US" altLang="sr-Latn-RS" sz="1800" dirty="0" err="1"/>
              <a:t>bude</a:t>
            </a:r>
            <a:r>
              <a:rPr lang="en-US" altLang="sr-Latn-RS" sz="1800" dirty="0"/>
              <a:t> </a:t>
            </a:r>
            <a:r>
              <a:rPr lang="sr-Latn-RS" altLang="sr-Latn-RS" sz="1800" dirty="0"/>
              <a:t>100</a:t>
            </a:r>
            <a:r>
              <a:rPr lang="sr-Latn-RS" altLang="sr-Latn-RS" sz="1800"/>
              <a:t>% izvršiv!</a:t>
            </a:r>
            <a:endParaRPr lang="en-US" altLang="sr-Latn-RS" sz="1800" dirty="0"/>
          </a:p>
        </p:txBody>
      </p:sp>
      <p:sp>
        <p:nvSpPr>
          <p:cNvPr id="32772" name="AutoShape 3"/>
          <p:cNvSpPr>
            <a:spLocks noChangeArrowheads="1"/>
          </p:cNvSpPr>
          <p:nvPr/>
        </p:nvSpPr>
        <p:spPr bwMode="auto">
          <a:xfrm>
            <a:off x="5980113" y="441325"/>
            <a:ext cx="1371600" cy="274638"/>
          </a:xfrm>
          <a:prstGeom prst="roundRect">
            <a:avLst>
              <a:gd name="adj" fmla="val 16667"/>
            </a:avLst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Start</a:t>
            </a:r>
          </a:p>
        </p:txBody>
      </p:sp>
      <p:sp>
        <p:nvSpPr>
          <p:cNvPr id="32773" name="AutoShape 4"/>
          <p:cNvSpPr>
            <a:spLocks noChangeArrowheads="1"/>
          </p:cNvSpPr>
          <p:nvPr/>
        </p:nvSpPr>
        <p:spPr bwMode="auto">
          <a:xfrm>
            <a:off x="5980113" y="5943600"/>
            <a:ext cx="1371600" cy="274638"/>
          </a:xfrm>
          <a:prstGeom prst="roundRect">
            <a:avLst>
              <a:gd name="adj" fmla="val 16667"/>
            </a:avLst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End</a:t>
            </a:r>
          </a:p>
        </p:txBody>
      </p:sp>
      <p:sp>
        <p:nvSpPr>
          <p:cNvPr id="32774" name="AutoShape 5"/>
          <p:cNvSpPr>
            <a:spLocks noChangeArrowheads="1"/>
          </p:cNvSpPr>
          <p:nvPr/>
        </p:nvSpPr>
        <p:spPr bwMode="auto">
          <a:xfrm>
            <a:off x="6126163" y="1081088"/>
            <a:ext cx="1096962" cy="457200"/>
          </a:xfrm>
          <a:prstGeom prst="parallelogram">
            <a:avLst>
              <a:gd name="adj" fmla="val 59983"/>
            </a:avLst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Ulaz: n</a:t>
            </a:r>
          </a:p>
        </p:txBody>
      </p:sp>
      <p:sp>
        <p:nvSpPr>
          <p:cNvPr id="32775" name="AutoShape 6"/>
          <p:cNvSpPr>
            <a:spLocks noChangeArrowheads="1"/>
          </p:cNvSpPr>
          <p:nvPr/>
        </p:nvSpPr>
        <p:spPr bwMode="auto">
          <a:xfrm>
            <a:off x="6126163" y="5121275"/>
            <a:ext cx="1096962" cy="457200"/>
          </a:xfrm>
          <a:prstGeom prst="parallelogram">
            <a:avLst>
              <a:gd name="adj" fmla="val 59983"/>
            </a:avLst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Izlaz: S</a:t>
            </a: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6065838" y="1812925"/>
            <a:ext cx="1189037" cy="274638"/>
          </a:xfrm>
          <a:prstGeom prst="rect">
            <a:avLst/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i &lt;-- 1</a:t>
            </a:r>
          </a:p>
        </p:txBody>
      </p:sp>
      <p:sp>
        <p:nvSpPr>
          <p:cNvPr id="32777" name="Rectangle 8"/>
          <p:cNvSpPr>
            <a:spLocks noChangeArrowheads="1"/>
          </p:cNvSpPr>
          <p:nvPr/>
        </p:nvSpPr>
        <p:spPr bwMode="auto">
          <a:xfrm>
            <a:off x="6065838" y="2360613"/>
            <a:ext cx="1189037" cy="274637"/>
          </a:xfrm>
          <a:prstGeom prst="rect">
            <a:avLst/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S &lt;-- 0</a:t>
            </a:r>
          </a:p>
        </p:txBody>
      </p:sp>
      <p:sp>
        <p:nvSpPr>
          <p:cNvPr id="32778" name="Rectangle 9"/>
          <p:cNvSpPr>
            <a:spLocks noChangeArrowheads="1"/>
          </p:cNvSpPr>
          <p:nvPr/>
        </p:nvSpPr>
        <p:spPr bwMode="auto">
          <a:xfrm>
            <a:off x="6065838" y="3017838"/>
            <a:ext cx="1189037" cy="274637"/>
          </a:xfrm>
          <a:prstGeom prst="rect">
            <a:avLst/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S &lt;-- S + i</a:t>
            </a:r>
          </a:p>
        </p:txBody>
      </p:sp>
      <p:sp>
        <p:nvSpPr>
          <p:cNvPr id="32779" name="Rectangle 10"/>
          <p:cNvSpPr>
            <a:spLocks noChangeArrowheads="1"/>
          </p:cNvSpPr>
          <p:nvPr/>
        </p:nvSpPr>
        <p:spPr bwMode="auto">
          <a:xfrm>
            <a:off x="6065838" y="3565525"/>
            <a:ext cx="1189037" cy="274638"/>
          </a:xfrm>
          <a:prstGeom prst="rect">
            <a:avLst/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i &lt;-- i + 1</a:t>
            </a:r>
          </a:p>
        </p:txBody>
      </p:sp>
      <p:sp>
        <p:nvSpPr>
          <p:cNvPr id="32780" name="AutoShape 11"/>
          <p:cNvSpPr>
            <a:spLocks noChangeArrowheads="1"/>
          </p:cNvSpPr>
          <p:nvPr/>
        </p:nvSpPr>
        <p:spPr bwMode="auto">
          <a:xfrm>
            <a:off x="6308725" y="4114800"/>
            <a:ext cx="731838" cy="639763"/>
          </a:xfrm>
          <a:prstGeom prst="diamond">
            <a:avLst/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i &gt; n</a:t>
            </a:r>
          </a:p>
        </p:txBody>
      </p:sp>
      <p:cxnSp>
        <p:nvCxnSpPr>
          <p:cNvPr id="32781" name="AutoShape 12"/>
          <p:cNvCxnSpPr>
            <a:cxnSpLocks noChangeShapeType="1"/>
            <a:stCxn id="32772" idx="2"/>
            <a:endCxn id="32774" idx="1"/>
          </p:cNvCxnSpPr>
          <p:nvPr/>
        </p:nvCxnSpPr>
        <p:spPr bwMode="auto">
          <a:xfrm>
            <a:off x="6665913" y="715963"/>
            <a:ext cx="9525" cy="365125"/>
          </a:xfrm>
          <a:prstGeom prst="straightConnector1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2" name="AutoShape 13"/>
          <p:cNvCxnSpPr>
            <a:cxnSpLocks noChangeShapeType="1"/>
            <a:stCxn id="32774" idx="4"/>
            <a:endCxn id="32776" idx="0"/>
          </p:cNvCxnSpPr>
          <p:nvPr/>
        </p:nvCxnSpPr>
        <p:spPr bwMode="auto">
          <a:xfrm flipH="1">
            <a:off x="6661150" y="1538288"/>
            <a:ext cx="14288" cy="274637"/>
          </a:xfrm>
          <a:prstGeom prst="straightConnector1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3" name="AutoShape 14"/>
          <p:cNvCxnSpPr>
            <a:cxnSpLocks noChangeShapeType="1"/>
            <a:stCxn id="32776" idx="2"/>
            <a:endCxn id="32777" idx="0"/>
          </p:cNvCxnSpPr>
          <p:nvPr/>
        </p:nvCxnSpPr>
        <p:spPr bwMode="auto">
          <a:xfrm>
            <a:off x="6661150" y="2087563"/>
            <a:ext cx="1588" cy="273050"/>
          </a:xfrm>
          <a:prstGeom prst="straightConnector1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4" name="AutoShape 15"/>
          <p:cNvCxnSpPr>
            <a:cxnSpLocks noChangeShapeType="1"/>
            <a:stCxn id="32777" idx="2"/>
            <a:endCxn id="32778" idx="0"/>
          </p:cNvCxnSpPr>
          <p:nvPr/>
        </p:nvCxnSpPr>
        <p:spPr bwMode="auto">
          <a:xfrm>
            <a:off x="6661150" y="2635250"/>
            <a:ext cx="1588" cy="382588"/>
          </a:xfrm>
          <a:prstGeom prst="straightConnector1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5" name="AutoShape 16"/>
          <p:cNvCxnSpPr>
            <a:cxnSpLocks noChangeShapeType="1"/>
            <a:stCxn id="32778" idx="2"/>
            <a:endCxn id="32779" idx="0"/>
          </p:cNvCxnSpPr>
          <p:nvPr/>
        </p:nvCxnSpPr>
        <p:spPr bwMode="auto">
          <a:xfrm>
            <a:off x="6661150" y="3292475"/>
            <a:ext cx="1588" cy="273050"/>
          </a:xfrm>
          <a:prstGeom prst="straightConnector1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6" name="AutoShape 17"/>
          <p:cNvCxnSpPr>
            <a:cxnSpLocks noChangeShapeType="1"/>
            <a:stCxn id="32779" idx="2"/>
            <a:endCxn id="32780" idx="0"/>
          </p:cNvCxnSpPr>
          <p:nvPr/>
        </p:nvCxnSpPr>
        <p:spPr bwMode="auto">
          <a:xfrm>
            <a:off x="6661150" y="3840163"/>
            <a:ext cx="14288" cy="274637"/>
          </a:xfrm>
          <a:prstGeom prst="straightConnector1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7" name="AutoShape 18"/>
          <p:cNvCxnSpPr>
            <a:cxnSpLocks noChangeShapeType="1"/>
            <a:stCxn id="32780" idx="2"/>
            <a:endCxn id="32775" idx="1"/>
          </p:cNvCxnSpPr>
          <p:nvPr/>
        </p:nvCxnSpPr>
        <p:spPr bwMode="auto">
          <a:xfrm>
            <a:off x="6675438" y="4754563"/>
            <a:ext cx="1587" cy="366712"/>
          </a:xfrm>
          <a:prstGeom prst="straightConnector1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8" name="AutoShape 19"/>
          <p:cNvCxnSpPr>
            <a:cxnSpLocks noChangeShapeType="1"/>
            <a:stCxn id="32775" idx="4"/>
            <a:endCxn id="32773" idx="0"/>
          </p:cNvCxnSpPr>
          <p:nvPr/>
        </p:nvCxnSpPr>
        <p:spPr bwMode="auto">
          <a:xfrm flipH="1">
            <a:off x="6665913" y="5578475"/>
            <a:ext cx="7937" cy="365125"/>
          </a:xfrm>
          <a:prstGeom prst="straightConnector1">
            <a:avLst/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9" name="AutoShape 20"/>
          <p:cNvCxnSpPr>
            <a:cxnSpLocks noChangeShapeType="1"/>
            <a:stCxn id="32780" idx="3"/>
          </p:cNvCxnSpPr>
          <p:nvPr/>
        </p:nvCxnSpPr>
        <p:spPr bwMode="auto">
          <a:xfrm flipH="1" flipV="1">
            <a:off x="6659563" y="2824163"/>
            <a:ext cx="381000" cy="1611312"/>
          </a:xfrm>
          <a:prstGeom prst="curvedConnector3">
            <a:avLst>
              <a:gd name="adj1" fmla="val -276213"/>
            </a:avLst>
          </a:prstGeom>
          <a:noFill/>
          <a:ln w="93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790" name="AutoShape 21"/>
          <p:cNvSpPr>
            <a:spLocks/>
          </p:cNvSpPr>
          <p:nvPr/>
        </p:nvSpPr>
        <p:spPr bwMode="auto">
          <a:xfrm flipH="1">
            <a:off x="3475038" y="336550"/>
            <a:ext cx="1536700" cy="487363"/>
          </a:xfrm>
          <a:prstGeom prst="borderCallout2">
            <a:avLst>
              <a:gd name="adj1" fmla="val 40944"/>
              <a:gd name="adj2" fmla="val -5852"/>
              <a:gd name="adj3" fmla="val 18519"/>
              <a:gd name="adj4" fmla="val -16667"/>
              <a:gd name="adj5" fmla="val 37542"/>
              <a:gd name="adj6" fmla="val -67681"/>
            </a:avLst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Sabiranje prvih 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prirodnih brojeva</a:t>
            </a:r>
          </a:p>
        </p:txBody>
      </p:sp>
      <p:sp>
        <p:nvSpPr>
          <p:cNvPr id="32791" name="Rectangle 22"/>
          <p:cNvSpPr>
            <a:spLocks noChangeArrowheads="1"/>
          </p:cNvSpPr>
          <p:nvPr/>
        </p:nvSpPr>
        <p:spPr bwMode="auto">
          <a:xfrm>
            <a:off x="6765925" y="4754563"/>
            <a:ext cx="3651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da</a:t>
            </a:r>
          </a:p>
        </p:txBody>
      </p:sp>
      <p:sp>
        <p:nvSpPr>
          <p:cNvPr id="32792" name="Rectangle 23"/>
          <p:cNvSpPr>
            <a:spLocks noChangeArrowheads="1"/>
          </p:cNvSpPr>
          <p:nvPr/>
        </p:nvSpPr>
        <p:spPr bwMode="auto">
          <a:xfrm>
            <a:off x="7040563" y="4114800"/>
            <a:ext cx="63976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 anchor="ctr"/>
          <a:lstStyle>
            <a:lvl1pPr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1800">
                <a:solidFill>
                  <a:srgbClr val="000000"/>
                </a:solidFill>
                <a:ea typeface="WenQuanYi Zen Hei" charset="0"/>
                <a:cs typeface="WenQuanYi Zen Hei" charset="0"/>
              </a:rPr>
              <a:t>ne</a:t>
            </a:r>
          </a:p>
        </p:txBody>
      </p:sp>
    </p:spTree>
    <p:extLst>
      <p:ext uri="{BB962C8B-B14F-4D97-AF65-F5344CB8AC3E}">
        <p14:creationId xmlns:p14="http://schemas.microsoft.com/office/powerpoint/2010/main" val="11357235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200</Words>
  <Application>Microsoft Office PowerPoint</Application>
  <PresentationFormat>On-screen Show (4:3)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Narrow</vt:lpstr>
      <vt:lpstr>Calibri</vt:lpstr>
      <vt:lpstr>Office Theme</vt:lpstr>
      <vt:lpstr>Predavanja 2</vt:lpstr>
      <vt:lpstr>MDE model</vt:lpstr>
      <vt:lpstr>Dobro definisan jezik</vt:lpstr>
      <vt:lpstr>Primer 2: odnos modela i metamodela</vt:lpstr>
      <vt:lpstr>Pojednostavljeni meta-model UML dijagrama klasa</vt:lpstr>
      <vt:lpstr>Primer 3: Deo CWM metamodela</vt:lpstr>
      <vt:lpstr>Vežba</vt:lpstr>
    </vt:vector>
  </TitlesOfParts>
  <Company>FTN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Predavanja 2</dc:title>
  <dc:creator>Gordana Milosavljevic</dc:creator>
  <cp:lastModifiedBy>Gordana Milosavljević</cp:lastModifiedBy>
  <cp:revision>4</cp:revision>
  <dcterms:created xsi:type="dcterms:W3CDTF">2017-10-26T07:24:16Z</dcterms:created>
  <dcterms:modified xsi:type="dcterms:W3CDTF">2020-11-12T09:09:46Z</dcterms:modified>
</cp:coreProperties>
</file>