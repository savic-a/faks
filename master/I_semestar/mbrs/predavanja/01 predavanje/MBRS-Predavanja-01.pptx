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j8N2CpkkeWRQftqPOOiNFy6Tp8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38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" name="Google Shape;26;p4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2" name="Google Shape;32;p4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  <a:defRPr sz="3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8" name="Google Shape;38;p4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9pPr>
          </a:lstStyle>
          <a:p>
            <a:endParaRPr/>
          </a:p>
        </p:txBody>
      </p:sp>
      <p:sp>
        <p:nvSpPr>
          <p:cNvPr id="39" name="Google Shape;39;p4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/>
            </a:lvl9pPr>
          </a:lstStyle>
          <a:p>
            <a:endParaRPr/>
          </a:p>
        </p:txBody>
      </p:sp>
      <p:sp>
        <p:nvSpPr>
          <p:cNvPr id="46" name="Google Shape;46;p5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5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sz="1600"/>
            </a:lvl9pPr>
          </a:lstStyle>
          <a:p>
            <a:endParaRPr/>
          </a:p>
        </p:txBody>
      </p:sp>
      <p:sp>
        <p:nvSpPr>
          <p:cNvPr id="62" name="Google Shape;62;p5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5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sz="1600"/>
            </a:lvl9pPr>
          </a:lstStyle>
          <a:p>
            <a:endParaRPr/>
          </a:p>
        </p:txBody>
      </p:sp>
      <p:sp>
        <p:nvSpPr>
          <p:cNvPr id="64" name="Google Shape;64;p5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/>
            </a:lvl9pPr>
          </a:lstStyle>
          <a:p>
            <a:endParaRPr/>
          </a:p>
        </p:txBody>
      </p:sp>
      <p:sp>
        <p:nvSpPr>
          <p:cNvPr id="70" name="Google Shape;70;p5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/>
            </a:lvl9pPr>
          </a:lstStyle>
          <a:p>
            <a:endParaRPr/>
          </a:p>
        </p:txBody>
      </p:sp>
      <p:sp>
        <p:nvSpPr>
          <p:cNvPr id="71" name="Google Shape;71;p5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9pPr>
          </a:lstStyle>
          <a:p>
            <a:endParaRPr/>
          </a:p>
        </p:txBody>
      </p:sp>
      <p:sp>
        <p:nvSpPr>
          <p:cNvPr id="77" name="Google Shape;77;p5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  <a:defRPr sz="3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3907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Metodologije brzog razvoja softvera</a:t>
            </a:r>
            <a:br>
              <a:rPr lang="en-US" sz="36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Predavanje br. 1 - Uvod</a:t>
            </a:r>
            <a:br>
              <a:rPr lang="en-US" sz="18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Gordana Milosavljević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endParaRPr sz="2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Katedra</a:t>
            </a:r>
            <a:r>
              <a:rPr lang="en-US" sz="16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za </a:t>
            </a:r>
            <a:r>
              <a:rPr lang="en-US" sz="16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informatiku</a:t>
            </a:r>
            <a:r>
              <a:rPr lang="en-US" sz="16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FTN, Novi Sad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sr-Latn-RS" sz="16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Predmet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endParaRPr sz="3200" b="0" i="0" u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Predavanja</a:t>
            </a:r>
            <a:r>
              <a:rPr lang="en-US" sz="3200" b="0" i="0" u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: </a:t>
            </a:r>
            <a:endParaRPr dirty="0"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Gordana Milosavljević, grist</a:t>
            </a:r>
            <a:r>
              <a:rPr lang="en-US" dirty="0"/>
              <a:t>@</a:t>
            </a:r>
            <a:r>
              <a:rPr lang="en-US" sz="2400" b="0" i="0" u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uns.ac.rs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Vežbe</a:t>
            </a:r>
            <a:r>
              <a:rPr lang="en-US" sz="3200" b="0" i="0" u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rPr lang="sr-Latn-RS" sz="2400" b="0" i="0" u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	</a:t>
            </a:r>
            <a:r>
              <a:rPr lang="en-US" sz="2400" b="0" i="0" u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Nenad</a:t>
            </a:r>
            <a:r>
              <a:rPr lang="en-US" sz="2400" b="0" i="0" u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400" b="0" i="0" u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Todorovi</a:t>
            </a:r>
            <a:r>
              <a:rPr lang="sr-Latn-RS" sz="2400"/>
              <a:t>ć, nenadtod@uns.ac.rs</a:t>
            </a:r>
            <a:endParaRPr sz="2400" b="0" i="0" u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Ispitne obaveze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Projekat (timski rad)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Usmeni (prilikom timske odbrane projekta)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Ciljevi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Praktična znanja odmah primenjiva u praksi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Teorijska znanja potrebna za eventualno dalje školovanje i usavršavanje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Zašto je neophodan brz razvoj?</a:t>
            </a:r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468312" y="162877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Razvoj softvera se odvija za potrebe preduzeća koja su izložena različitim uticajima: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pojačana konkurencija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preokreti na tržištu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globalizacija ekonomije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brze tehnološke promene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Da bi opstala na tržištu, preduzeća moraju biti fleksibilna i posedovati sposobnost brzog prilagođavanja promenama iz okruženja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Softver se mora razvijati dovoljno brzo da može podržati preduzeće koje se prilagođava promenama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Sadržaj predmeta</a:t>
            </a:r>
            <a:endParaRPr/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Metodologije, tehnike i alati koji mogu doprineti bržem razvoju kvalitetnih softverskih proizvoda: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Inženjerstvo upravljano modelima (</a:t>
            </a:r>
            <a:r>
              <a:rPr lang="en-US" sz="28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Model Driven Engineering</a:t>
            </a: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– MDE)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Agilne metodologije – za one koji ih nisu slušali ranije</a:t>
            </a:r>
            <a:endParaRPr/>
          </a:p>
          <a:p>
            <a:pPr marL="742950" lvl="1" indent="-1079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endParaRPr sz="28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endParaRPr sz="28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Inženjerstvo upravljano modelima</a:t>
            </a:r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Predstavnici: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</a:pPr>
            <a:r>
              <a:rPr lang="en-US" sz="20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Model Driven Architecture</a:t>
            </a:r>
            <a:r>
              <a:rPr lang="en-US" sz="20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- MDA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Razvoj softvera upravljan modelima (Model Driven Software Development - MDSD)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Modelovanje specifično za domen (Domain Specific Modeling ­ DSM)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Izvršivi UML (Executable UML - xUML)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Programiranje orijentisano ka jezicima (Language Oriented Programming ­ LOP)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</a:pPr>
            <a:r>
              <a:rPr lang="en-US" sz="20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....</a:t>
            </a:r>
            <a:endParaRPr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endParaRPr sz="20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Agilne metodologije</a:t>
            </a:r>
            <a:endParaRPr/>
          </a:p>
        </p:txBody>
      </p:sp>
      <p:sp>
        <p:nvSpPr>
          <p:cNvPr id="127" name="Google Shape;12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Predstavnici: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Extreme Programming</a:t>
            </a: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(XP)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Scrum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Dynamic Systems Development Method</a:t>
            </a: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(DSDM)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Feature-Driven Development</a:t>
            </a: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(FDD)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Adaptive Software Development</a:t>
            </a: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(ASD)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Lean Development</a:t>
            </a: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(LD) - Kanban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Agile Modeling</a:t>
            </a: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(AM)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….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endParaRPr sz="24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Model?</a:t>
            </a:r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Model je pojednostavljena predstava realnog sistema kreirana sa određenim ciljem 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 kontekstu MDE, model je opis sistema ili dela sistema zapisan korišćenjem dobro definisanog jezika koji podržava automatsku interpretaciju od strane računara.</a:t>
            </a:r>
            <a:r>
              <a:rPr lang="en-US" sz="2800" b="0" i="0" u="none">
                <a:solidFill>
                  <a:srgbClr val="0000FF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Sistem predstavlja  skup elemenata u interakciji i njihovih relacija.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 Narrow"/>
              <a:buNone/>
            </a:pPr>
            <a:r>
              <a:rPr lang="en-US" sz="44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Zašto modelujemo?</a:t>
            </a:r>
            <a:endParaRPr/>
          </a:p>
        </p:txBody>
      </p: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Radi boljeg razumevanja sistema koji se implementira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Radi lakše komunikacije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Radi ispitivanja budućih karakteristika sistema koji se gradi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Radi specificiranja implementacije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endParaRPr sz="32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 Narrow"/>
              <a:buNone/>
            </a:pPr>
            <a:r>
              <a:rPr lang="en-US" sz="44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Da li je ovo model?</a:t>
            </a:r>
            <a:endParaRPr/>
          </a:p>
        </p:txBody>
      </p:sp>
      <p:pic>
        <p:nvPicPr>
          <p:cNvPr id="145" name="Google Shape;14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187" y="1484312"/>
            <a:ext cx="6089650" cy="426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1"/>
          <p:cNvSpPr txBox="1"/>
          <p:nvPr/>
        </p:nvSpPr>
        <p:spPr>
          <a:xfrm>
            <a:off x="395287" y="55165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 Narrow"/>
              <a:buNone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Moguća namena ovog modela?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>
            <a:spLocks noGrp="1"/>
          </p:cNvSpPr>
          <p:nvPr>
            <p:ph type="title"/>
          </p:nvPr>
        </p:nvSpPr>
        <p:spPr>
          <a:xfrm>
            <a:off x="395287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 Narrow"/>
              <a:buNone/>
            </a:pPr>
            <a:r>
              <a:rPr lang="en-US" sz="44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A ovo?</a:t>
            </a:r>
            <a:endParaRPr/>
          </a:p>
        </p:txBody>
      </p:sp>
      <p:pic>
        <p:nvPicPr>
          <p:cNvPr id="152" name="Google Shape;15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912" y="908050"/>
            <a:ext cx="6862762" cy="530066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2"/>
          <p:cNvSpPr txBox="1"/>
          <p:nvPr/>
        </p:nvSpPr>
        <p:spPr>
          <a:xfrm>
            <a:off x="395287" y="59499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 Narrow"/>
              <a:buNone/>
            </a:pPr>
            <a:r>
              <a:rPr lang="en-US" sz="2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Moguća namena?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MDE model</a:t>
            </a:r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 kontekstu MDE, model je opis sistema ili dela sistema zapisan korišćenjem dobro definisanog jezika koji podržava automatsku interpretaciju od strane računara.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Radi bolje produktivnosti projektanta, poželjni su modeli na visokom nivou apstrakcije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endParaRPr sz="28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Apstrakcija</a:t>
            </a:r>
            <a:endParaRPr/>
          </a:p>
        </p:txBody>
      </p:sp>
      <p:sp>
        <p:nvSpPr>
          <p:cNvPr id="165" name="Google Shape;165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Apstrakcija je proces zanemarivanja nebitnih informacija prilikom kreiranja modela. 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endParaRPr sz="32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Model na niskom nivou apstrakcije?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Model na visokom nivou apstrakcije?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Model na niskom nivou apstrakcije</a:t>
            </a:r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body" idx="1"/>
          </p:nvPr>
        </p:nvSpPr>
        <p:spPr>
          <a:xfrm>
            <a:off x="250825" y="1341437"/>
            <a:ext cx="8713787" cy="309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Bavi se sitnim implementacionim detaljima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Obično: jedna klasa u modelu se mapira na jednu klasu u okviru programskog koda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endParaRPr sz="2800" b="0" i="0" u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>
            <a:spLocks noGrp="1"/>
          </p:cNvSpPr>
          <p:nvPr>
            <p:ph type="title"/>
          </p:nvPr>
        </p:nvSpPr>
        <p:spPr>
          <a:xfrm>
            <a:off x="179387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Primer: model na niskom nivou apstrakcije</a:t>
            </a:r>
            <a:endParaRPr/>
          </a:p>
        </p:txBody>
      </p:sp>
      <p:pic>
        <p:nvPicPr>
          <p:cNvPr id="177" name="Google Shape;17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912" y="836612"/>
            <a:ext cx="5492750" cy="578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Model na visokom nivou apstrakcije</a:t>
            </a:r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body" idx="1"/>
          </p:nvPr>
        </p:nvSpPr>
        <p:spPr>
          <a:xfrm>
            <a:off x="457200" y="1628775"/>
            <a:ext cx="8686800" cy="2520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bavi se specifikacijom kategorija sistema i njihovim međusobnim odnosima na znatno višem nivou u odnosu na programski kod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Poželjno: da se jedan pojam iz domena problema mapira na jedan element modela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endParaRPr sz="2800" b="0" i="0" u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>
            <a:spLocks noGrp="1"/>
          </p:cNvSpPr>
          <p:nvPr>
            <p:ph type="title"/>
          </p:nvPr>
        </p:nvSpPr>
        <p:spPr>
          <a:xfrm>
            <a:off x="0" y="-1714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Primer: Model na visokom nivou apstrakcije</a:t>
            </a:r>
            <a:endParaRPr/>
          </a:p>
        </p:txBody>
      </p:sp>
      <p:pic>
        <p:nvPicPr>
          <p:cNvPr id="189" name="Google Shape;189;p18" descr="S60pho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212" y="765175"/>
            <a:ext cx="5976937" cy="58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684212" y="6491287"/>
            <a:ext cx="7659687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 Narrow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Model je implementiran jezikom za specifikaciju aplikacija za mobilne telefone (MetaEdit+)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lang="en-US" sz="36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Primer 1- Model na visokom nivou apstrakcije</a:t>
            </a: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50" y="1268412"/>
            <a:ext cx="7416800" cy="5319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Model Driven Architecture (MDA)</a:t>
            </a:r>
            <a:endParaRPr/>
          </a:p>
        </p:txBody>
      </p:sp>
      <p:sp>
        <p:nvSpPr>
          <p:cNvPr id="202" name="Google Shape;202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MDA – konkretizacija MDE (Model Driven Engineering) paradigme vođena od strane OMG (</a:t>
            </a:r>
            <a:r>
              <a:rPr lang="en-US" sz="32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Object Management Group</a:t>
            </a: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) konzorcijuma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www.omg.org/mda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OMG grupa: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www.omg.org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endParaRPr sz="32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endParaRPr sz="32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Ciljevi</a:t>
            </a:r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produktivnost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interoperabilnost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portabilnost na nove tehnologije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kvalitetna dokumentacija i jednostavno održavanje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Tradicionalni životni ciklus projekta</a:t>
            </a:r>
            <a:endParaRPr/>
          </a:p>
        </p:txBody>
      </p:sp>
      <p:pic>
        <p:nvPicPr>
          <p:cNvPr id="214" name="Google Shape;21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7675" y="1700212"/>
            <a:ext cx="2676525" cy="41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MDA životni ciklus projekta</a:t>
            </a:r>
            <a:endParaRPr/>
          </a:p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750" y="1557337"/>
            <a:ext cx="3424237" cy="496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4284662" y="1700212"/>
            <a:ext cx="3887787" cy="119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CIM – Computational Independent Model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PIM – Platform Independent Model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PSM – Platform Specific Model</a:t>
            </a:r>
            <a:endParaRPr/>
          </a:p>
        </p:txBody>
      </p:sp>
      <p:pic>
        <p:nvPicPr>
          <p:cNvPr id="222" name="Google Shape;222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4067175" y="4941887"/>
            <a:ext cx="4392612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Platforma</a:t>
            </a:r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body" idx="1"/>
          </p:nvPr>
        </p:nvSpPr>
        <p:spPr>
          <a:xfrm>
            <a:off x="457200" y="15573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Platforma može biti: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tehnologija za implementaciju srednjeg sloja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sistem za rukovanje bazama podataka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programski jezik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infrastruktura za razmenu poruka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......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Nezavisnost od platforme – relativan pojam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Potrebno je navesti od kojih je platformi model nezavisan 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>
            <a:spLocks noGrp="1"/>
          </p:cNvSpPr>
          <p:nvPr>
            <p:ph type="title"/>
          </p:nvPr>
        </p:nvSpPr>
        <p:spPr>
          <a:xfrm>
            <a:off x="395287" y="3333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Transformacija</a:t>
            </a:r>
            <a:endParaRPr/>
          </a:p>
        </p:txBody>
      </p:sp>
      <p:sp>
        <p:nvSpPr>
          <p:cNvPr id="234" name="Google Shape;234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Transformacija predstavlja automatsko generisanje ciljnog modela na osnovu početnog modela, u skladu sa definicijom transformacije.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Definicija transformacije predstavlja skup pravila od kojih svako opisuje kako se jedna ili više konstrukcija iz početnog jezika može preslikati u jednu ili više konstrukcija ciljnog jezika.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endParaRPr sz="28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Platforma - definicija</a:t>
            </a:r>
            <a:endParaRPr/>
          </a:p>
        </p:txBody>
      </p:sp>
      <p:sp>
        <p:nvSpPr>
          <p:cNvPr id="240" name="Google Shape;240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Platforma predstavlja skup podsistema i tehnologija koji pružaju koherentan skup usluga putem interfejsa i propisanih načina upotrebe, koje sve aplikacije podržane tom platformom mogu koristiti, bez potrebe da imaju saznanje o načinu implementacije pruženih funkcionalnosti.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Potrebno za MDA razvoj</a:t>
            </a:r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jedan ili više standardizovanih, dobro definisanih jezika, za realizaciju modela na visokom  nivou apstrakcije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modeli koji su konzistentni, precizni i sadrže dovoljno informacija o razmatranom sistemu, realizovani uz oslonac na dobro definisane jezike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definisana pravila za transformaciju PIM-a u PSM-ove i PSM-ova u programski kod, koja se mogu automatski izvršavati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formalni jezik za definisanje transformacija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alati koji implementiraju transformacije modela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alati koji implementiraju transformacije PSM-ova u programski kod.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Specifikacija jezika za modelovanje</a:t>
            </a:r>
            <a:endParaRPr/>
          </a:p>
        </p:txBody>
      </p:sp>
      <p:sp>
        <p:nvSpPr>
          <p:cNvPr id="252" name="Google Shape;252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Jezik za specifikaciju modela sistema se naziva metamodel (tj. model je instanca metamodela u određenom domenu)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Metamodel se specificira uz oslonac na meta-metamodel.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Meta-metamodel, metamodel, model sistema i instanca modela (instance klasa, korisnički podaci) formiraju četvoroslojnu arhitekturu metanivoa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Četvoroslojna arhitektura metanivoa</a:t>
            </a:r>
            <a:endParaRPr/>
          </a:p>
        </p:txBody>
      </p:sp>
      <p:pic>
        <p:nvPicPr>
          <p:cNvPr id="258" name="Google Shape;25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912" y="1412875"/>
            <a:ext cx="6408737" cy="514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>
            <a:spLocks noGrp="1"/>
          </p:cNvSpPr>
          <p:nvPr>
            <p:ph type="title"/>
          </p:nvPr>
        </p:nvSpPr>
        <p:spPr>
          <a:xfrm>
            <a:off x="457200" y="-1000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Primer 1: Deo UML 2.0 metamodela</a:t>
            </a:r>
            <a:endParaRPr/>
          </a:p>
        </p:txBody>
      </p:sp>
      <p:sp>
        <p:nvSpPr>
          <p:cNvPr id="264" name="Google Shape;264;p30" descr="graphics/04fig01.gif"/>
          <p:cNvSpPr txBox="1"/>
          <p:nvPr/>
        </p:nvSpPr>
        <p:spPr>
          <a:xfrm>
            <a:off x="-161925" y="2506662"/>
            <a:ext cx="4762500" cy="164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5" name="Google Shape;265;p30" descr="graphics/04fig01.gif"/>
          <p:cNvSpPr txBox="1"/>
          <p:nvPr/>
        </p:nvSpPr>
        <p:spPr>
          <a:xfrm>
            <a:off x="2190750" y="2605087"/>
            <a:ext cx="4762500" cy="164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66" name="Google Shape;26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8887" y="2060575"/>
            <a:ext cx="6697662" cy="2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Primer 2: odnos modela i metamodela</a:t>
            </a:r>
            <a:endParaRPr/>
          </a:p>
        </p:txBody>
      </p:sp>
      <p:pic>
        <p:nvPicPr>
          <p:cNvPr id="272" name="Google Shape;27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7450" y="1130300"/>
            <a:ext cx="6840537" cy="57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1"/>
          <p:cNvSpPr txBox="1"/>
          <p:nvPr/>
        </p:nvSpPr>
        <p:spPr>
          <a:xfrm>
            <a:off x="468312" y="6165850"/>
            <a:ext cx="287337" cy="215900"/>
          </a:xfrm>
          <a:prstGeom prst="rect">
            <a:avLst/>
          </a:prstGeom>
          <a:solidFill>
            <a:srgbClr val="FFFC1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74" name="Google Shape;274;p31"/>
          <p:cNvSpPr txBox="1"/>
          <p:nvPr/>
        </p:nvSpPr>
        <p:spPr>
          <a:xfrm>
            <a:off x="468312" y="6453187"/>
            <a:ext cx="287337" cy="215900"/>
          </a:xfrm>
          <a:prstGeom prst="rect">
            <a:avLst/>
          </a:prstGeom>
          <a:solidFill>
            <a:srgbClr val="89E25C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900112" y="6092825"/>
            <a:ext cx="23050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rPr lang="en-US" sz="1600" b="1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Metaklasa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rPr lang="en-US" sz="1600" b="1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Klasa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>
            <a:spLocks noGrp="1"/>
          </p:cNvSpPr>
          <p:nvPr>
            <p:ph type="title"/>
          </p:nvPr>
        </p:nvSpPr>
        <p:spPr>
          <a:xfrm>
            <a:off x="395287" y="-242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Primer 3: Deo CWM metamodela</a:t>
            </a:r>
            <a:endParaRPr/>
          </a:p>
        </p:txBody>
      </p:sp>
      <p:pic>
        <p:nvPicPr>
          <p:cNvPr id="281" name="Google Shape;28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287" y="914400"/>
            <a:ext cx="8039100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8887" y="1341437"/>
            <a:ext cx="6100762" cy="46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3"/>
          <p:cNvSpPr txBox="1">
            <a:spLocks noGrp="1"/>
          </p:cNvSpPr>
          <p:nvPr>
            <p:ph type="title"/>
          </p:nvPr>
        </p:nvSpPr>
        <p:spPr>
          <a:xfrm>
            <a:off x="457200" y="444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Narrow"/>
              <a:buNone/>
            </a:pPr>
            <a:r>
              <a:rPr lang="en-US" sz="28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Primer 4: odnos modela, metamodela i meta-metamodela</a:t>
            </a:r>
            <a:endParaRPr/>
          </a:p>
        </p:txBody>
      </p:sp>
      <p:cxnSp>
        <p:nvCxnSpPr>
          <p:cNvPr id="288" name="Google Shape;288;p33"/>
          <p:cNvCxnSpPr/>
          <p:nvPr/>
        </p:nvCxnSpPr>
        <p:spPr>
          <a:xfrm>
            <a:off x="250825" y="2492375"/>
            <a:ext cx="8281987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89" name="Google Shape;289;p33"/>
          <p:cNvCxnSpPr/>
          <p:nvPr/>
        </p:nvCxnSpPr>
        <p:spPr>
          <a:xfrm>
            <a:off x="323850" y="4437062"/>
            <a:ext cx="8280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90" name="Google Shape;290;p33"/>
          <p:cNvSpPr txBox="1"/>
          <p:nvPr/>
        </p:nvSpPr>
        <p:spPr>
          <a:xfrm>
            <a:off x="7235825" y="1485900"/>
            <a:ext cx="1223962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 Narrow"/>
              <a:buNone/>
            </a:pPr>
            <a:r>
              <a:rPr lang="en-US" sz="1800" b="1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M3 nivo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 Narrow"/>
              <a:buNone/>
            </a:pPr>
            <a:r>
              <a:rPr lang="en-US" sz="1800" b="1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(MOF)</a:t>
            </a:r>
            <a:endParaRPr/>
          </a:p>
        </p:txBody>
      </p:sp>
      <p:sp>
        <p:nvSpPr>
          <p:cNvPr id="291" name="Google Shape;291;p33"/>
          <p:cNvSpPr txBox="1"/>
          <p:nvPr/>
        </p:nvSpPr>
        <p:spPr>
          <a:xfrm>
            <a:off x="7451725" y="3141662"/>
            <a:ext cx="1441450" cy="1008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 Narrow"/>
              <a:buNone/>
            </a:pPr>
            <a:r>
              <a:rPr lang="en-US" sz="1800" b="1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M2 nivo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 Narrow"/>
              <a:buNone/>
            </a:pPr>
            <a:r>
              <a:rPr lang="en-US" sz="1800" b="1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(UML metamodel)</a:t>
            </a:r>
            <a:endParaRPr/>
          </a:p>
        </p:txBody>
      </p:sp>
      <p:sp>
        <p:nvSpPr>
          <p:cNvPr id="292" name="Google Shape;292;p33"/>
          <p:cNvSpPr txBox="1"/>
          <p:nvPr/>
        </p:nvSpPr>
        <p:spPr>
          <a:xfrm>
            <a:off x="6767512" y="5084762"/>
            <a:ext cx="2376487" cy="7921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 Narrow"/>
              <a:buNone/>
            </a:pPr>
            <a:r>
              <a:rPr lang="en-US" sz="1800" b="1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M1 nivo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 Narrow"/>
              <a:buNone/>
            </a:pPr>
            <a:r>
              <a:rPr lang="en-US" sz="1800" b="1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(Model realnog sistema na UML-u)</a:t>
            </a:r>
            <a:endParaRPr/>
          </a:p>
        </p:txBody>
      </p:sp>
      <p:cxnSp>
        <p:nvCxnSpPr>
          <p:cNvPr id="293" name="Google Shape;293;p33"/>
          <p:cNvCxnSpPr/>
          <p:nvPr/>
        </p:nvCxnSpPr>
        <p:spPr>
          <a:xfrm rot="10800000">
            <a:off x="1835150" y="2060575"/>
            <a:ext cx="360362" cy="10048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294" name="Google Shape;294;p33"/>
          <p:cNvCxnSpPr/>
          <p:nvPr/>
        </p:nvCxnSpPr>
        <p:spPr>
          <a:xfrm rot="10800000">
            <a:off x="1979612" y="2060575"/>
            <a:ext cx="2376487" cy="8620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295" name="Google Shape;295;p33"/>
          <p:cNvCxnSpPr/>
          <p:nvPr/>
        </p:nvCxnSpPr>
        <p:spPr>
          <a:xfrm rot="10800000">
            <a:off x="2339975" y="1989137"/>
            <a:ext cx="4319587" cy="12207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296" name="Google Shape;296;p33"/>
          <p:cNvSpPr/>
          <p:nvPr/>
        </p:nvSpPr>
        <p:spPr>
          <a:xfrm>
            <a:off x="3492500" y="3357562"/>
            <a:ext cx="1655762" cy="431800"/>
          </a:xfrm>
          <a:custGeom>
            <a:avLst/>
            <a:gdLst/>
            <a:ahLst/>
            <a:cxnLst/>
            <a:rect l="l" t="t" r="r" b="b"/>
            <a:pathLst>
              <a:path w="1905" h="812" extrusionOk="0">
                <a:moveTo>
                  <a:pt x="840" y="47"/>
                </a:moveTo>
                <a:cubicBezTo>
                  <a:pt x="590" y="56"/>
                  <a:pt x="449" y="70"/>
                  <a:pt x="225" y="92"/>
                </a:cubicBezTo>
                <a:cubicBezTo>
                  <a:pt x="118" y="128"/>
                  <a:pt x="161" y="104"/>
                  <a:pt x="90" y="152"/>
                </a:cubicBezTo>
                <a:cubicBezTo>
                  <a:pt x="70" y="182"/>
                  <a:pt x="50" y="212"/>
                  <a:pt x="30" y="242"/>
                </a:cubicBezTo>
                <a:cubicBezTo>
                  <a:pt x="12" y="268"/>
                  <a:pt x="0" y="332"/>
                  <a:pt x="0" y="332"/>
                </a:cubicBezTo>
                <a:cubicBezTo>
                  <a:pt x="2" y="350"/>
                  <a:pt x="2" y="491"/>
                  <a:pt x="30" y="542"/>
                </a:cubicBezTo>
                <a:cubicBezTo>
                  <a:pt x="48" y="574"/>
                  <a:pt x="58" y="616"/>
                  <a:pt x="90" y="632"/>
                </a:cubicBezTo>
                <a:cubicBezTo>
                  <a:pt x="132" y="653"/>
                  <a:pt x="168" y="686"/>
                  <a:pt x="210" y="707"/>
                </a:cubicBezTo>
                <a:cubicBezTo>
                  <a:pt x="228" y="716"/>
                  <a:pt x="250" y="715"/>
                  <a:pt x="270" y="722"/>
                </a:cubicBezTo>
                <a:cubicBezTo>
                  <a:pt x="317" y="738"/>
                  <a:pt x="358" y="766"/>
                  <a:pt x="405" y="782"/>
                </a:cubicBezTo>
                <a:cubicBezTo>
                  <a:pt x="449" y="797"/>
                  <a:pt x="495" y="801"/>
                  <a:pt x="540" y="812"/>
                </a:cubicBezTo>
                <a:cubicBezTo>
                  <a:pt x="805" y="802"/>
                  <a:pt x="1059" y="789"/>
                  <a:pt x="1320" y="752"/>
                </a:cubicBezTo>
                <a:cubicBezTo>
                  <a:pt x="1436" y="713"/>
                  <a:pt x="1561" y="707"/>
                  <a:pt x="1680" y="677"/>
                </a:cubicBezTo>
                <a:cubicBezTo>
                  <a:pt x="1729" y="645"/>
                  <a:pt x="1766" y="604"/>
                  <a:pt x="1815" y="572"/>
                </a:cubicBezTo>
                <a:cubicBezTo>
                  <a:pt x="1837" y="506"/>
                  <a:pt x="1883" y="458"/>
                  <a:pt x="1905" y="392"/>
                </a:cubicBezTo>
                <a:cubicBezTo>
                  <a:pt x="1897" y="350"/>
                  <a:pt x="1861" y="213"/>
                  <a:pt x="1830" y="182"/>
                </a:cubicBezTo>
                <a:cubicBezTo>
                  <a:pt x="1772" y="124"/>
                  <a:pt x="1723" y="116"/>
                  <a:pt x="1650" y="92"/>
                </a:cubicBezTo>
                <a:cubicBezTo>
                  <a:pt x="1633" y="86"/>
                  <a:pt x="1622" y="66"/>
                  <a:pt x="1605" y="62"/>
                </a:cubicBezTo>
                <a:cubicBezTo>
                  <a:pt x="1358" y="0"/>
                  <a:pt x="1095" y="47"/>
                  <a:pt x="840" y="47"/>
                </a:cubicBez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97" name="Google Shape;297;p33"/>
          <p:cNvCxnSpPr/>
          <p:nvPr/>
        </p:nvCxnSpPr>
        <p:spPr>
          <a:xfrm rot="10800000">
            <a:off x="4211637" y="1989137"/>
            <a:ext cx="647700" cy="136842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298" name="Google Shape;298;p33"/>
          <p:cNvCxnSpPr/>
          <p:nvPr/>
        </p:nvCxnSpPr>
        <p:spPr>
          <a:xfrm rot="10800000" flipH="1">
            <a:off x="5580062" y="2060575"/>
            <a:ext cx="792162" cy="136842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299" name="Google Shape;299;p33"/>
          <p:cNvCxnSpPr/>
          <p:nvPr/>
        </p:nvCxnSpPr>
        <p:spPr>
          <a:xfrm rot="10800000">
            <a:off x="2051050" y="3789362"/>
            <a:ext cx="3025775" cy="122396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00" name="Google Shape;300;p33"/>
          <p:cNvCxnSpPr/>
          <p:nvPr/>
        </p:nvCxnSpPr>
        <p:spPr>
          <a:xfrm rot="10800000">
            <a:off x="1835150" y="3789362"/>
            <a:ext cx="360362" cy="122396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01" name="Google Shape;301;p33"/>
          <p:cNvCxnSpPr/>
          <p:nvPr/>
        </p:nvCxnSpPr>
        <p:spPr>
          <a:xfrm rot="10800000" flipH="1">
            <a:off x="4067175" y="3860800"/>
            <a:ext cx="2305050" cy="12969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302" name="Google Shape;302;p33"/>
          <p:cNvSpPr/>
          <p:nvPr/>
        </p:nvSpPr>
        <p:spPr>
          <a:xfrm>
            <a:off x="1619250" y="5229225"/>
            <a:ext cx="1873250" cy="431800"/>
          </a:xfrm>
          <a:custGeom>
            <a:avLst/>
            <a:gdLst/>
            <a:ahLst/>
            <a:cxnLst/>
            <a:rect l="l" t="t" r="r" b="b"/>
            <a:pathLst>
              <a:path w="1905" h="812" extrusionOk="0">
                <a:moveTo>
                  <a:pt x="840" y="47"/>
                </a:moveTo>
                <a:cubicBezTo>
                  <a:pt x="590" y="56"/>
                  <a:pt x="449" y="70"/>
                  <a:pt x="225" y="92"/>
                </a:cubicBezTo>
                <a:cubicBezTo>
                  <a:pt x="118" y="128"/>
                  <a:pt x="161" y="104"/>
                  <a:pt x="90" y="152"/>
                </a:cubicBezTo>
                <a:cubicBezTo>
                  <a:pt x="70" y="182"/>
                  <a:pt x="50" y="212"/>
                  <a:pt x="30" y="242"/>
                </a:cubicBezTo>
                <a:cubicBezTo>
                  <a:pt x="12" y="268"/>
                  <a:pt x="0" y="332"/>
                  <a:pt x="0" y="332"/>
                </a:cubicBezTo>
                <a:cubicBezTo>
                  <a:pt x="2" y="350"/>
                  <a:pt x="2" y="491"/>
                  <a:pt x="30" y="542"/>
                </a:cubicBezTo>
                <a:cubicBezTo>
                  <a:pt x="48" y="574"/>
                  <a:pt x="58" y="616"/>
                  <a:pt x="90" y="632"/>
                </a:cubicBezTo>
                <a:cubicBezTo>
                  <a:pt x="132" y="653"/>
                  <a:pt x="168" y="686"/>
                  <a:pt x="210" y="707"/>
                </a:cubicBezTo>
                <a:cubicBezTo>
                  <a:pt x="228" y="716"/>
                  <a:pt x="250" y="715"/>
                  <a:pt x="270" y="722"/>
                </a:cubicBezTo>
                <a:cubicBezTo>
                  <a:pt x="317" y="738"/>
                  <a:pt x="358" y="766"/>
                  <a:pt x="405" y="782"/>
                </a:cubicBezTo>
                <a:cubicBezTo>
                  <a:pt x="449" y="797"/>
                  <a:pt x="495" y="801"/>
                  <a:pt x="540" y="812"/>
                </a:cubicBezTo>
                <a:cubicBezTo>
                  <a:pt x="805" y="802"/>
                  <a:pt x="1059" y="789"/>
                  <a:pt x="1320" y="752"/>
                </a:cubicBezTo>
                <a:cubicBezTo>
                  <a:pt x="1436" y="713"/>
                  <a:pt x="1561" y="707"/>
                  <a:pt x="1680" y="677"/>
                </a:cubicBezTo>
                <a:cubicBezTo>
                  <a:pt x="1729" y="645"/>
                  <a:pt x="1766" y="604"/>
                  <a:pt x="1815" y="572"/>
                </a:cubicBezTo>
                <a:cubicBezTo>
                  <a:pt x="1837" y="506"/>
                  <a:pt x="1883" y="458"/>
                  <a:pt x="1905" y="392"/>
                </a:cubicBezTo>
                <a:cubicBezTo>
                  <a:pt x="1897" y="350"/>
                  <a:pt x="1861" y="213"/>
                  <a:pt x="1830" y="182"/>
                </a:cubicBezTo>
                <a:cubicBezTo>
                  <a:pt x="1772" y="124"/>
                  <a:pt x="1723" y="116"/>
                  <a:pt x="1650" y="92"/>
                </a:cubicBezTo>
                <a:cubicBezTo>
                  <a:pt x="1633" y="86"/>
                  <a:pt x="1622" y="66"/>
                  <a:pt x="1605" y="62"/>
                </a:cubicBezTo>
                <a:cubicBezTo>
                  <a:pt x="1358" y="0"/>
                  <a:pt x="1095" y="47"/>
                  <a:pt x="840" y="47"/>
                </a:cubicBez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303" name="Google Shape;303;p33"/>
          <p:cNvCxnSpPr/>
          <p:nvPr/>
        </p:nvCxnSpPr>
        <p:spPr>
          <a:xfrm rot="10800000" flipH="1">
            <a:off x="2843212" y="4149725"/>
            <a:ext cx="1368425" cy="10810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04" name="Google Shape;304;p33"/>
          <p:cNvCxnSpPr/>
          <p:nvPr/>
        </p:nvCxnSpPr>
        <p:spPr>
          <a:xfrm>
            <a:off x="1619250" y="6381750"/>
            <a:ext cx="647700" cy="317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305" name="Google Shape;305;p33"/>
          <p:cNvSpPr txBox="1"/>
          <p:nvPr/>
        </p:nvSpPr>
        <p:spPr>
          <a:xfrm>
            <a:off x="2411412" y="6210300"/>
            <a:ext cx="1081087" cy="2428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Narrow"/>
              <a:buNone/>
            </a:pPr>
            <a:r>
              <a:rPr lang="en-US" sz="12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&lt;&lt;instanceOf&gt;&gt;</a:t>
            </a:r>
            <a:endParaRPr/>
          </a:p>
        </p:txBody>
      </p:sp>
      <p:sp>
        <p:nvSpPr>
          <p:cNvPr id="306" name="Google Shape;306;p33"/>
          <p:cNvSpPr txBox="1"/>
          <p:nvPr/>
        </p:nvSpPr>
        <p:spPr>
          <a:xfrm>
            <a:off x="2627312" y="3933825"/>
            <a:ext cx="1081087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Narrow"/>
              <a:buNone/>
            </a:pPr>
            <a:r>
              <a:rPr lang="en-US" sz="12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&lt;&lt;instanceOf&gt;&gt;</a:t>
            </a:r>
            <a:endParaRPr/>
          </a:p>
        </p:txBody>
      </p:sp>
      <p:sp>
        <p:nvSpPr>
          <p:cNvPr id="307" name="Google Shape;307;p33"/>
          <p:cNvSpPr txBox="1"/>
          <p:nvPr/>
        </p:nvSpPr>
        <p:spPr>
          <a:xfrm>
            <a:off x="1403350" y="4437062"/>
            <a:ext cx="1081087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Narrow"/>
              <a:buNone/>
            </a:pPr>
            <a:r>
              <a:rPr lang="en-US" sz="12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&lt;&lt;instanceOf&gt;&gt;</a:t>
            </a:r>
            <a:endParaRPr/>
          </a:p>
        </p:txBody>
      </p:sp>
      <p:sp>
        <p:nvSpPr>
          <p:cNvPr id="308" name="Google Shape;308;p33"/>
          <p:cNvSpPr txBox="1"/>
          <p:nvPr/>
        </p:nvSpPr>
        <p:spPr>
          <a:xfrm>
            <a:off x="4716462" y="4149725"/>
            <a:ext cx="1081087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Narrow"/>
              <a:buNone/>
            </a:pPr>
            <a:r>
              <a:rPr lang="en-US" sz="12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&lt;&lt;instanceOf&gt;&gt;</a:t>
            </a:r>
            <a:endParaRPr/>
          </a:p>
        </p:txBody>
      </p:sp>
      <p:sp>
        <p:nvSpPr>
          <p:cNvPr id="309" name="Google Shape;309;p33"/>
          <p:cNvSpPr txBox="1"/>
          <p:nvPr/>
        </p:nvSpPr>
        <p:spPr>
          <a:xfrm>
            <a:off x="2700337" y="4508500"/>
            <a:ext cx="1081087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Narrow"/>
              <a:buNone/>
            </a:pPr>
            <a:r>
              <a:rPr lang="en-US" sz="12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&lt;&lt;instanceOf&gt;&gt;</a:t>
            </a:r>
            <a:endParaRPr/>
          </a:p>
        </p:txBody>
      </p:sp>
      <p:sp>
        <p:nvSpPr>
          <p:cNvPr id="310" name="Google Shape;310;p33"/>
          <p:cNvSpPr txBox="1"/>
          <p:nvPr/>
        </p:nvSpPr>
        <p:spPr>
          <a:xfrm>
            <a:off x="1331912" y="2565400"/>
            <a:ext cx="1081087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Narrow"/>
              <a:buNone/>
            </a:pPr>
            <a:r>
              <a:rPr lang="en-US" sz="12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&lt;&lt;instanceOf&gt;&gt;</a:t>
            </a:r>
            <a:endParaRPr/>
          </a:p>
        </p:txBody>
      </p:sp>
      <p:sp>
        <p:nvSpPr>
          <p:cNvPr id="311" name="Google Shape;311;p33"/>
          <p:cNvSpPr txBox="1"/>
          <p:nvPr/>
        </p:nvSpPr>
        <p:spPr>
          <a:xfrm>
            <a:off x="5219700" y="2420937"/>
            <a:ext cx="1081087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Narrow"/>
              <a:buNone/>
            </a:pPr>
            <a:r>
              <a:rPr lang="en-US" sz="12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&lt;&lt;instanceOf&gt;&gt;</a:t>
            </a:r>
            <a:endParaRPr/>
          </a:p>
        </p:txBody>
      </p:sp>
      <p:sp>
        <p:nvSpPr>
          <p:cNvPr id="312" name="Google Shape;312;p33"/>
          <p:cNvSpPr txBox="1"/>
          <p:nvPr/>
        </p:nvSpPr>
        <p:spPr>
          <a:xfrm>
            <a:off x="3059112" y="2060575"/>
            <a:ext cx="1081087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Narrow"/>
              <a:buNone/>
            </a:pPr>
            <a:r>
              <a:rPr lang="en-US" sz="12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&lt;&lt;instanceOf&gt;&gt;</a:t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2627312" y="2492375"/>
            <a:ext cx="1081087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Narrow"/>
              <a:buNone/>
            </a:pPr>
            <a:r>
              <a:rPr lang="en-US" sz="12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&lt;&lt;instanceOf&gt;&gt;</a:t>
            </a:r>
            <a:endParaRPr/>
          </a:p>
        </p:txBody>
      </p:sp>
      <p:sp>
        <p:nvSpPr>
          <p:cNvPr id="314" name="Google Shape;314;p33"/>
          <p:cNvSpPr txBox="1"/>
          <p:nvPr/>
        </p:nvSpPr>
        <p:spPr>
          <a:xfrm>
            <a:off x="4211637" y="2276475"/>
            <a:ext cx="1081087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Narrow"/>
              <a:buNone/>
            </a:pPr>
            <a:r>
              <a:rPr lang="en-US" sz="12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&lt;&lt;instanceOf&gt;&gt;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OMG specifikacije (standardi)</a:t>
            </a:r>
            <a:endParaRPr/>
          </a:p>
        </p:txBody>
      </p:sp>
      <p:sp>
        <p:nvSpPr>
          <p:cNvPr id="320" name="Google Shape;320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Meta Object Facility</a:t>
            </a: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(MOF)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Unified Modeling Languange</a:t>
            </a: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(UML)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Object Constraint Language </a:t>
            </a: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(OCL)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XMI (</a:t>
            </a:r>
            <a:r>
              <a:rPr lang="en-US" sz="28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XML Metadata Interchange)</a:t>
            </a:r>
            <a:endParaRPr sz="28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Common Warehouse Metamodel</a:t>
            </a: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(CWM)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Query/View/Transformation (QVT)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....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Sve navedene specifikacije se mogu dobiti na adresi: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www.omg.org/technology/documents/modeling_spec_catalog.htm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 Narrow"/>
              <a:buNone/>
            </a:pPr>
            <a:r>
              <a:rPr lang="en-US" sz="44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MOF</a:t>
            </a:r>
            <a:endParaRPr/>
          </a:p>
        </p:txBody>
      </p:sp>
      <p:sp>
        <p:nvSpPr>
          <p:cNvPr id="326" name="Google Shape;326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definiše okvir za upravljanje metapodacima i skup servisa za potrebe razvoja alata za modelovanje i podršku razmene artefakata razvoja između njih (tj. za podršku interoperabilnosti)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 odnosu na četvoroslojnu arhitekturu metanivoa, MOF se nalazi u sloju M3 koji je rezervisan za jezik za specifikaciju metamodela.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UML</a:t>
            </a:r>
            <a:endParaRPr/>
          </a:p>
        </p:txBody>
      </p:sp>
      <p:sp>
        <p:nvSpPr>
          <p:cNvPr id="332" name="Google Shape;332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Unified Modeling Language</a:t>
            </a: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(UML) je jezik za modelovanje realizovan sa idejom da omogući zajedničku osnovu za analizu, projektovanje i implementaciju softverskih sistema, kao i modelovanje poslovnih procesa.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UML metamodel je napoznatija instanca MOF meta-metamodela.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CWM</a:t>
            </a:r>
            <a:endParaRPr/>
          </a:p>
        </p:txBody>
      </p:sp>
      <p:sp>
        <p:nvSpPr>
          <p:cNvPr id="338" name="Google Shape;338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Common Warehouse Metamodel </a:t>
            </a: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(CWM) je jezik namenjen za modelovanje relacionih baza podataka, data mining i data warehousing aplikacija, vizualizaciju informacija itd.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CWM je takođe instanca MOF meta-metamodela.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endParaRPr sz="32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OCL</a:t>
            </a:r>
            <a:endParaRPr/>
          </a:p>
        </p:txBody>
      </p:sp>
      <p:sp>
        <p:nvSpPr>
          <p:cNvPr id="344" name="Google Shape;344;p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Object Constraint Language</a:t>
            </a: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(OCL) je formalni jezik koji se koristi za specifikaciju različitih izraza u okviru UML i MOF modela: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ograničenja sistema koji se modeluje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upita nad modelom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inicijalnih vrednosti atributa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uslova koji moraju biti zadovoljeni pre i posle poziva određene metode i sl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Omogućava specifikaciju dodatne semantike koja se ne može iskazati samo uz oslonac na UML.</a:t>
            </a: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XMI</a:t>
            </a:r>
            <a:endParaRPr/>
          </a:p>
        </p:txBody>
      </p:sp>
      <p:sp>
        <p:nvSpPr>
          <p:cNvPr id="350" name="Google Shape;350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XML  Metadata  Interchange</a:t>
            </a: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(XMI)  je OMG standard koji omogućava razmenu metapodataka baziranih na MOF metamodelu između različitih alata i repozitorijuma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Razmena se obavlja korišćenjem XML-a (</a:t>
            </a:r>
            <a:r>
              <a:rPr lang="en-US" sz="32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Extensible Markup Language</a:t>
            </a: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QVT</a:t>
            </a:r>
            <a:endParaRPr/>
          </a:p>
        </p:txBody>
      </p:sp>
      <p:sp>
        <p:nvSpPr>
          <p:cNvPr id="356" name="Google Shape;356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Query/View/Transformation je jezik namenjen za formalno definisanje upita, pogleda i transformacija nad modelom</a:t>
            </a:r>
            <a:endParaRPr/>
          </a:p>
          <a:p>
            <a:pPr marL="609600" lvl="0" indent="-4064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endParaRPr sz="32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609600" lvl="0" indent="-4064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endParaRPr sz="32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609600" lvl="0" indent="-4064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endParaRPr sz="32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endParaRPr sz="32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 Narrow"/>
              <a:buNone/>
            </a:pPr>
            <a:r>
              <a:rPr lang="en-US" sz="44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Postignuti ciljevi MDA?</a:t>
            </a:r>
            <a:endParaRPr/>
          </a:p>
        </p:txBody>
      </p:sp>
      <p:sp>
        <p:nvSpPr>
          <p:cNvPr id="362" name="Google Shape;362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produktivnost, interoperabilnost, portabilnost, kvalitetna dokumentacija i jednostavno održavanje?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implementacija kompletne vizije se ne očekuje u skorije vreme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Postignuti ciljevi MDA?</a:t>
            </a:r>
            <a:endParaRPr/>
          </a:p>
        </p:txBody>
      </p:sp>
      <p:sp>
        <p:nvSpPr>
          <p:cNvPr id="368" name="Google Shape;368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Mada postoje alati za koje proizvođači tvrde da su MDA kompatibilni, i dalje je u pitanju samo delimična kompatibilnost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Postoje pokušaji redukcije MDA u cilju lakše primene u realnom razvojnom  ambijentu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Najveći pomak je ostvaren u realizovanju podrške za razvoj ugrađenih (</a:t>
            </a:r>
            <a:r>
              <a:rPr lang="en-US" sz="32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embedded</a:t>
            </a: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) sistema i sistema za rad u realnom vremenu, </a:t>
            </a:r>
            <a:r>
              <a:rPr lang="en-US" sz="32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web</a:t>
            </a:r>
            <a:r>
              <a:rPr lang="en-US" sz="32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servisa, baza podataka i srednjeg sloja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endParaRPr sz="3200" b="0" i="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 Narrow"/>
              <a:buNone/>
            </a:pPr>
            <a:r>
              <a:rPr lang="en-US" sz="4000" b="0" i="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Literatura</a:t>
            </a:r>
            <a:endParaRPr/>
          </a:p>
        </p:txBody>
      </p:sp>
      <p:sp>
        <p:nvSpPr>
          <p:cNvPr id="374" name="Google Shape;374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A. Kleppe, J. Warmer, W. Bast, </a:t>
            </a:r>
            <a:r>
              <a:rPr lang="en-US" sz="24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MDA Explained – The Model Driven Architecture: Practice and Promise</a:t>
            </a: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, Addison-Wesley, Boston, 2003. (poglavlje 1, 2, 3)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S. J. Mellor, K. Scott, A. Uhl, D. Weise, </a:t>
            </a:r>
            <a:r>
              <a:rPr lang="en-US" sz="2400" b="0" i="1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MDA Distilled: Principles of Model-Driven Architecture</a:t>
            </a: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, Addison Wesley, Boston, 2004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I. Dejanović, „Metamodel, editor modela i generator poslovnih aplikacija“, Magistarska teza, Fakultet tehničkih nauka, Novi Sad, 2008. (poglavlje 1)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MDA Guide 1.01, http://www.enterprise-architecture.info/Images/MDA/MDA%20Guide%20v1-0-1.pdf (poglavlje 2)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1462</Words>
  <Application>Microsoft Office PowerPoint</Application>
  <PresentationFormat>On-screen Show (4:3)</PresentationFormat>
  <Paragraphs>187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 Narrow</vt:lpstr>
      <vt:lpstr>Arial</vt:lpstr>
      <vt:lpstr>Default Design</vt:lpstr>
      <vt:lpstr>Metodologije brzog razvoja softvera Predavanje br. 1 - Uvod </vt:lpstr>
      <vt:lpstr>Predmet</vt:lpstr>
      <vt:lpstr>Ispitne obaveze</vt:lpstr>
      <vt:lpstr>Ciljevi</vt:lpstr>
      <vt:lpstr>Zašto je neophodan brz razvoj?</vt:lpstr>
      <vt:lpstr>Sadržaj predmeta</vt:lpstr>
      <vt:lpstr>Inženjerstvo upravljano modelima</vt:lpstr>
      <vt:lpstr>Agilne metodologije</vt:lpstr>
      <vt:lpstr>Model?</vt:lpstr>
      <vt:lpstr>Zašto modelujemo?</vt:lpstr>
      <vt:lpstr>Da li je ovo model?</vt:lpstr>
      <vt:lpstr>A ovo?</vt:lpstr>
      <vt:lpstr>MDE model</vt:lpstr>
      <vt:lpstr>Apstrakcija</vt:lpstr>
      <vt:lpstr>Model na niskom nivou apstrakcije</vt:lpstr>
      <vt:lpstr>Primer: model na niskom nivou apstrakcije</vt:lpstr>
      <vt:lpstr>Model na visokom nivou apstrakcije</vt:lpstr>
      <vt:lpstr>Primer: Model na visokom nivou apstrakcije</vt:lpstr>
      <vt:lpstr>Primer 1- Model na visokom nivou apstrakcije </vt:lpstr>
      <vt:lpstr>Model Driven Architecture (MDA)</vt:lpstr>
      <vt:lpstr>Ciljevi</vt:lpstr>
      <vt:lpstr>Tradicionalni životni ciklus projekta</vt:lpstr>
      <vt:lpstr>MDA životni ciklus projekta</vt:lpstr>
      <vt:lpstr>Platforma</vt:lpstr>
      <vt:lpstr>Transformacija</vt:lpstr>
      <vt:lpstr>Platforma - definicija</vt:lpstr>
      <vt:lpstr>Potrebno za MDA razvoj</vt:lpstr>
      <vt:lpstr>Specifikacija jezika za modelovanje</vt:lpstr>
      <vt:lpstr>Četvoroslojna arhitektura metanivoa</vt:lpstr>
      <vt:lpstr>Primer 1: Deo UML 2.0 metamodela</vt:lpstr>
      <vt:lpstr>Primer 2: odnos modela i metamodela</vt:lpstr>
      <vt:lpstr>Primer 3: Deo CWM metamodela</vt:lpstr>
      <vt:lpstr>Primer 4: odnos modela, metamodela i meta-metamodela</vt:lpstr>
      <vt:lpstr>OMG specifikacije (standardi)</vt:lpstr>
      <vt:lpstr>MOF</vt:lpstr>
      <vt:lpstr>UML</vt:lpstr>
      <vt:lpstr>CWM</vt:lpstr>
      <vt:lpstr>OCL</vt:lpstr>
      <vt:lpstr>XMI</vt:lpstr>
      <vt:lpstr>QVT</vt:lpstr>
      <vt:lpstr>Postignuti ciljevi MDA?</vt:lpstr>
      <vt:lpstr>Postignuti ciljevi MDA?</vt:lpstr>
      <vt:lpstr>Literatura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Metodologije brzog razvoja softvera Predavanje br. 1 - Uvod </dc:title>
  <dc:creator>Gordana Milosavljevic</dc:creator>
  <cp:lastModifiedBy>Gordana Milosavljević</cp:lastModifiedBy>
  <cp:revision>2</cp:revision>
  <dcterms:created xsi:type="dcterms:W3CDTF">2010-10-11T09:07:04Z</dcterms:created>
  <dcterms:modified xsi:type="dcterms:W3CDTF">2022-10-15T14:10:40Z</dcterms:modified>
</cp:coreProperties>
</file>