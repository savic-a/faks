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8"/>
  </p:notesMasterIdLst>
  <p:sldIdLst>
    <p:sldId id="256" r:id="rId2"/>
    <p:sldId id="259" r:id="rId3"/>
    <p:sldId id="268" r:id="rId4"/>
    <p:sldId id="270" r:id="rId5"/>
    <p:sldId id="269" r:id="rId6"/>
    <p:sldId id="280" r:id="rId7"/>
    <p:sldId id="286" r:id="rId8"/>
    <p:sldId id="281" r:id="rId9"/>
    <p:sldId id="271" r:id="rId10"/>
    <p:sldId id="285" r:id="rId11"/>
    <p:sldId id="282" r:id="rId12"/>
    <p:sldId id="283" r:id="rId13"/>
    <p:sldId id="284" r:id="rId14"/>
    <p:sldId id="277" r:id="rId15"/>
    <p:sldId id="278" r:id="rId16"/>
    <p:sldId id="266" r:id="rId17"/>
  </p:sldIdLst>
  <p:sldSz cx="18300700" cy="10299700"/>
  <p:notesSz cx="18300700" cy="102997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B756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39" d="100"/>
          <a:sy n="39" d="100"/>
        </p:scale>
        <p:origin x="936" y="5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7929563" cy="5159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10366375" y="0"/>
            <a:ext cx="7929563" cy="5159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A60081F-AF65-4189-BD8A-6EE3FF14B3A6}" type="datetimeFigureOut">
              <a:rPr lang="en-US" smtClean="0"/>
              <a:t>7/16/2025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061075" y="1287463"/>
            <a:ext cx="6178550" cy="3476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830388" y="4956175"/>
            <a:ext cx="14639925" cy="405606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783763"/>
            <a:ext cx="7929563" cy="5159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10366375" y="9783763"/>
            <a:ext cx="7929563" cy="5159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7636D5C-A829-4AD6-8541-D87BAB2A08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99826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636D5C-A829-4AD6-8541-D87BAB2A089F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12526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72552" y="3192907"/>
            <a:ext cx="15555595" cy="21629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5105" y="5767832"/>
            <a:ext cx="12810490" cy="25749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7/16/2025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300" b="1" i="0">
                <a:solidFill>
                  <a:srgbClr val="434343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750" b="0" i="0">
                <a:solidFill>
                  <a:srgbClr val="434343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7/16/2025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300" b="1" i="0">
                <a:solidFill>
                  <a:srgbClr val="434343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915035" y="2368931"/>
            <a:ext cx="7960804" cy="679780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9424860" y="2368931"/>
            <a:ext cx="7960804" cy="679780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7/16/2025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300" b="1" i="0">
                <a:solidFill>
                  <a:srgbClr val="434343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7/16/2025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5647499" y="2819996"/>
            <a:ext cx="19050" cy="9525"/>
          </a:xfrm>
          <a:custGeom>
            <a:avLst/>
            <a:gdLst/>
            <a:ahLst/>
            <a:cxnLst/>
            <a:rect l="l" t="t" r="r" b="b"/>
            <a:pathLst>
              <a:path w="19050" h="9525">
                <a:moveTo>
                  <a:pt x="16662" y="0"/>
                </a:moveTo>
                <a:lnTo>
                  <a:pt x="11912" y="0"/>
                </a:lnTo>
                <a:lnTo>
                  <a:pt x="11912" y="1905"/>
                </a:lnTo>
                <a:lnTo>
                  <a:pt x="9525" y="1905"/>
                </a:lnTo>
                <a:lnTo>
                  <a:pt x="11912" y="3810"/>
                </a:lnTo>
                <a:lnTo>
                  <a:pt x="14287" y="3810"/>
                </a:lnTo>
                <a:lnTo>
                  <a:pt x="11912" y="5715"/>
                </a:lnTo>
                <a:lnTo>
                  <a:pt x="0" y="5715"/>
                </a:lnTo>
                <a:lnTo>
                  <a:pt x="0" y="9525"/>
                </a:lnTo>
                <a:lnTo>
                  <a:pt x="4649" y="8096"/>
                </a:lnTo>
                <a:lnTo>
                  <a:pt x="10415" y="8096"/>
                </a:lnTo>
                <a:lnTo>
                  <a:pt x="15735" y="7381"/>
                </a:lnTo>
                <a:lnTo>
                  <a:pt x="19050" y="3810"/>
                </a:lnTo>
                <a:lnTo>
                  <a:pt x="19050" y="1905"/>
                </a:lnTo>
                <a:lnTo>
                  <a:pt x="16662" y="0"/>
                </a:lnTo>
                <a:close/>
              </a:path>
            </a:pathLst>
          </a:custGeom>
          <a:solidFill>
            <a:srgbClr val="F8BA8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3672497" y="7175004"/>
            <a:ext cx="19050" cy="28575"/>
          </a:xfrm>
          <a:custGeom>
            <a:avLst/>
            <a:gdLst/>
            <a:ahLst/>
            <a:cxnLst/>
            <a:rect l="l" t="t" r="r" b="b"/>
            <a:pathLst>
              <a:path w="19050" h="28575">
                <a:moveTo>
                  <a:pt x="0" y="0"/>
                </a:moveTo>
                <a:lnTo>
                  <a:pt x="16332" y="25717"/>
                </a:lnTo>
                <a:lnTo>
                  <a:pt x="19050" y="28575"/>
                </a:lnTo>
                <a:lnTo>
                  <a:pt x="11865" y="15666"/>
                </a:lnTo>
                <a:lnTo>
                  <a:pt x="6467" y="6781"/>
                </a:lnTo>
                <a:lnTo>
                  <a:pt x="2597" y="1650"/>
                </a:lnTo>
                <a:lnTo>
                  <a:pt x="0" y="0"/>
                </a:lnTo>
                <a:close/>
              </a:path>
            </a:pathLst>
          </a:custGeom>
          <a:solidFill>
            <a:srgbClr val="F8BA8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6979996" y="5644997"/>
            <a:ext cx="9525" cy="28575"/>
          </a:xfrm>
          <a:custGeom>
            <a:avLst/>
            <a:gdLst/>
            <a:ahLst/>
            <a:cxnLst/>
            <a:rect l="l" t="t" r="r" b="b"/>
            <a:pathLst>
              <a:path w="9525" h="28575">
                <a:moveTo>
                  <a:pt x="3884" y="12314"/>
                </a:moveTo>
                <a:lnTo>
                  <a:pt x="5025" y="15768"/>
                </a:lnTo>
                <a:lnTo>
                  <a:pt x="9525" y="28575"/>
                </a:lnTo>
                <a:lnTo>
                  <a:pt x="9525" y="26377"/>
                </a:lnTo>
                <a:lnTo>
                  <a:pt x="7370" y="20129"/>
                </a:lnTo>
                <a:lnTo>
                  <a:pt x="3884" y="12314"/>
                </a:lnTo>
                <a:close/>
              </a:path>
              <a:path w="9525" h="28575">
                <a:moveTo>
                  <a:pt x="0" y="0"/>
                </a:moveTo>
                <a:lnTo>
                  <a:pt x="0" y="2197"/>
                </a:lnTo>
                <a:lnTo>
                  <a:pt x="2161" y="8452"/>
                </a:lnTo>
                <a:lnTo>
                  <a:pt x="3884" y="12314"/>
                </a:lnTo>
                <a:lnTo>
                  <a:pt x="2085" y="6872"/>
                </a:lnTo>
                <a:lnTo>
                  <a:pt x="484" y="1684"/>
                </a:lnTo>
                <a:lnTo>
                  <a:pt x="0" y="0"/>
                </a:lnTo>
                <a:close/>
              </a:path>
            </a:pathLst>
          </a:custGeom>
          <a:solidFill>
            <a:srgbClr val="F8BA8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17934940" y="6932501"/>
            <a:ext cx="352425" cy="3343275"/>
          </a:xfrm>
          <a:custGeom>
            <a:avLst/>
            <a:gdLst/>
            <a:ahLst/>
            <a:cxnLst/>
            <a:rect l="l" t="t" r="r" b="b"/>
            <a:pathLst>
              <a:path w="352425" h="3343275">
                <a:moveTo>
                  <a:pt x="352425" y="0"/>
                </a:moveTo>
                <a:lnTo>
                  <a:pt x="0" y="0"/>
                </a:lnTo>
                <a:lnTo>
                  <a:pt x="0" y="3343275"/>
                </a:lnTo>
                <a:lnTo>
                  <a:pt x="352425" y="3343275"/>
                </a:lnTo>
                <a:lnTo>
                  <a:pt x="352425" y="0"/>
                </a:lnTo>
                <a:close/>
              </a:path>
            </a:pathLst>
          </a:custGeom>
          <a:solidFill>
            <a:srgbClr val="DB756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0" y="0"/>
            <a:ext cx="13234669" cy="352425"/>
          </a:xfrm>
          <a:custGeom>
            <a:avLst/>
            <a:gdLst/>
            <a:ahLst/>
            <a:cxnLst/>
            <a:rect l="l" t="t" r="r" b="b"/>
            <a:pathLst>
              <a:path w="13234669" h="352425">
                <a:moveTo>
                  <a:pt x="0" y="352424"/>
                </a:moveTo>
                <a:lnTo>
                  <a:pt x="13234273" y="352424"/>
                </a:lnTo>
                <a:lnTo>
                  <a:pt x="13234273" y="0"/>
                </a:lnTo>
                <a:lnTo>
                  <a:pt x="0" y="0"/>
                </a:lnTo>
                <a:lnTo>
                  <a:pt x="0" y="352424"/>
                </a:lnTo>
                <a:close/>
              </a:path>
            </a:pathLst>
          </a:custGeom>
          <a:solidFill>
            <a:srgbClr val="DB7563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1" name="bg object 2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429156"/>
            <a:ext cx="9144000" cy="7429487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7/16/2025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090775" y="1883365"/>
            <a:ext cx="14119149" cy="95059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300" b="1" i="0">
                <a:solidFill>
                  <a:srgbClr val="434343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687406" y="3922039"/>
            <a:ext cx="10925886" cy="21221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750" b="0" i="0">
                <a:solidFill>
                  <a:srgbClr val="434343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222238" y="9578721"/>
            <a:ext cx="5856224" cy="5149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915035" y="9578721"/>
            <a:ext cx="4209161" cy="5149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7/16/2025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3176505" y="9578721"/>
            <a:ext cx="4209161" cy="5149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8742368-0F93-0F25-D183-407DA9499B55}"/>
              </a:ext>
            </a:extLst>
          </p:cNvPr>
          <p:cNvSpPr/>
          <p:nvPr/>
        </p:nvSpPr>
        <p:spPr>
          <a:xfrm>
            <a:off x="0" y="1263650"/>
            <a:ext cx="9302750" cy="8077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r-Latn-BA" dirty="0"/>
              <a:t>	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75BBBE4-6FC7-0582-9D1B-260701853B26}"/>
              </a:ext>
            </a:extLst>
          </p:cNvPr>
          <p:cNvSpPr txBox="1"/>
          <p:nvPr/>
        </p:nvSpPr>
        <p:spPr>
          <a:xfrm>
            <a:off x="3130550" y="2482850"/>
            <a:ext cx="12344400" cy="40626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0" b="1" spc="515" dirty="0">
                <a:solidFill>
                  <a:srgbClr val="434343"/>
                </a:solidFill>
                <a:latin typeface="Trebuchet MS"/>
                <a:cs typeface="Trebuchet MS"/>
              </a:rPr>
              <a:t>DSL za </a:t>
            </a:r>
            <a:r>
              <a:rPr lang="en-US" sz="8000" b="1" spc="515" dirty="0" err="1">
                <a:solidFill>
                  <a:srgbClr val="434343"/>
                </a:solidFill>
                <a:latin typeface="Trebuchet MS"/>
                <a:cs typeface="Trebuchet MS"/>
              </a:rPr>
              <a:t>generisanje</a:t>
            </a:r>
            <a:r>
              <a:rPr lang="en-US" sz="8000" b="1" spc="515" dirty="0">
                <a:solidFill>
                  <a:srgbClr val="434343"/>
                </a:solidFill>
                <a:latin typeface="Trebuchet MS"/>
                <a:cs typeface="Trebuchet MS"/>
              </a:rPr>
              <a:t> </a:t>
            </a:r>
            <a:r>
              <a:rPr lang="sr-Latn-BA" sz="8000" b="1" spc="515" dirty="0">
                <a:solidFill>
                  <a:srgbClr val="434343"/>
                </a:solidFill>
                <a:latin typeface="Trebuchet MS"/>
                <a:cs typeface="Trebuchet MS"/>
              </a:rPr>
              <a:t>SQL šema baza podataka</a:t>
            </a:r>
            <a:endParaRPr lang="sr-Latn-BA" sz="8000" dirty="0">
              <a:latin typeface="Trebuchet MS"/>
              <a:cs typeface="Trebuchet MS"/>
            </a:endParaRPr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0C6E6C8-9844-83E7-B708-239071FAFCBB}"/>
              </a:ext>
            </a:extLst>
          </p:cNvPr>
          <p:cNvSpPr txBox="1"/>
          <p:nvPr/>
        </p:nvSpPr>
        <p:spPr>
          <a:xfrm>
            <a:off x="12960350" y="8863796"/>
            <a:ext cx="49530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r-Latn-BA" sz="2800" dirty="0">
                <a:latin typeface="Trebuchet MS" panose="020B0603020202020204" pitchFamily="34" charset="0"/>
              </a:rPr>
              <a:t>Anastasija Savić </a:t>
            </a:r>
            <a:r>
              <a:rPr lang="en-US" sz="2800" dirty="0">
                <a:latin typeface="Trebuchet MS" panose="020B0603020202020204" pitchFamily="34" charset="0"/>
              </a:rPr>
              <a:t>R2 26/2024</a:t>
            </a:r>
            <a:endParaRPr lang="sr-Latn-BA" sz="2800" dirty="0">
              <a:latin typeface="Trebuchet MS" panose="020B0603020202020204" pitchFamily="34" charset="0"/>
            </a:endParaRPr>
          </a:p>
          <a:p>
            <a:r>
              <a:rPr lang="sr-Latn-BA" sz="2800" dirty="0">
                <a:latin typeface="Trebuchet MS" panose="020B0603020202020204" pitchFamily="34" charset="0"/>
              </a:rPr>
              <a:t>Katarina Vučić </a:t>
            </a:r>
            <a:r>
              <a:rPr lang="en-US" sz="2800" dirty="0">
                <a:latin typeface="Trebuchet MS" panose="020B0603020202020204" pitchFamily="34" charset="0"/>
              </a:rPr>
              <a:t>R2 28/2024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49DBDC7-FE40-8417-A0ED-BC6919BDF2BD}"/>
              </a:ext>
            </a:extLst>
          </p:cNvPr>
          <p:cNvSpPr txBox="1"/>
          <p:nvPr/>
        </p:nvSpPr>
        <p:spPr>
          <a:xfrm>
            <a:off x="3130550" y="6826250"/>
            <a:ext cx="7620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r-Latn-BA" sz="2400" b="1" spc="515" dirty="0">
                <a:solidFill>
                  <a:srgbClr val="434343"/>
                </a:solidFill>
                <a:latin typeface="Trebuchet MS"/>
              </a:rPr>
              <a:t>Metodologije brzog razvoja softvera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6">
            <a:extLst>
              <a:ext uri="{FF2B5EF4-FFF2-40B4-BE49-F238E27FC236}">
                <a16:creationId xmlns:a16="http://schemas.microsoft.com/office/drawing/2014/main" id="{A0125C23-66BE-11F4-1D1E-8A56A7152444}"/>
              </a:ext>
            </a:extLst>
          </p:cNvPr>
          <p:cNvSpPr/>
          <p:nvPr/>
        </p:nvSpPr>
        <p:spPr>
          <a:xfrm rot="5400000">
            <a:off x="4273549" y="-1098547"/>
            <a:ext cx="1066801" cy="5943598"/>
          </a:xfrm>
          <a:prstGeom prst="roundRect">
            <a:avLst/>
          </a:prstGeom>
          <a:solidFill>
            <a:srgbClr val="DB756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2216149" y="1596073"/>
            <a:ext cx="3124201" cy="545661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lang="sr-Latn-BA" sz="3450" spc="335" dirty="0">
                <a:solidFill>
                  <a:schemeClr val="bg1"/>
                </a:solidFill>
              </a:rPr>
              <a:t>MOTIVACIJA</a:t>
            </a:r>
            <a:endParaRPr sz="3450" dirty="0">
              <a:solidFill>
                <a:schemeClr val="bg1"/>
              </a:solidFill>
            </a:endParaRPr>
          </a:p>
        </p:txBody>
      </p:sp>
      <p:sp>
        <p:nvSpPr>
          <p:cNvPr id="6" name="object 6"/>
          <p:cNvSpPr/>
          <p:nvPr/>
        </p:nvSpPr>
        <p:spPr>
          <a:xfrm>
            <a:off x="0" y="0"/>
            <a:ext cx="347345" cy="3810000"/>
          </a:xfrm>
          <a:custGeom>
            <a:avLst/>
            <a:gdLst/>
            <a:ahLst/>
            <a:cxnLst/>
            <a:rect l="l" t="t" r="r" b="b"/>
            <a:pathLst>
              <a:path w="347345" h="3810000">
                <a:moveTo>
                  <a:pt x="0" y="3809707"/>
                </a:moveTo>
                <a:lnTo>
                  <a:pt x="346774" y="3809707"/>
                </a:lnTo>
                <a:lnTo>
                  <a:pt x="346774" y="0"/>
                </a:lnTo>
                <a:lnTo>
                  <a:pt x="0" y="0"/>
                </a:lnTo>
                <a:lnTo>
                  <a:pt x="0" y="3809707"/>
                </a:lnTo>
                <a:close/>
              </a:path>
            </a:pathLst>
          </a:custGeom>
          <a:solidFill>
            <a:srgbClr val="DB756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6">
            <a:extLst>
              <a:ext uri="{FF2B5EF4-FFF2-40B4-BE49-F238E27FC236}">
                <a16:creationId xmlns:a16="http://schemas.microsoft.com/office/drawing/2014/main" id="{96B64703-4772-24D3-9A53-655F778D4FB3}"/>
              </a:ext>
            </a:extLst>
          </p:cNvPr>
          <p:cNvSpPr/>
          <p:nvPr/>
        </p:nvSpPr>
        <p:spPr>
          <a:xfrm rot="5400000">
            <a:off x="4273548" y="1035053"/>
            <a:ext cx="1066801" cy="5943597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1" name="object 6">
            <a:extLst>
              <a:ext uri="{FF2B5EF4-FFF2-40B4-BE49-F238E27FC236}">
                <a16:creationId xmlns:a16="http://schemas.microsoft.com/office/drawing/2014/main" id="{D8D6411F-CA5D-F50D-3793-CE79B30888F7}"/>
              </a:ext>
            </a:extLst>
          </p:cNvPr>
          <p:cNvSpPr/>
          <p:nvPr/>
        </p:nvSpPr>
        <p:spPr>
          <a:xfrm rot="5400000">
            <a:off x="4273548" y="3168652"/>
            <a:ext cx="1066801" cy="5943599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2" name="object 6">
            <a:extLst>
              <a:ext uri="{FF2B5EF4-FFF2-40B4-BE49-F238E27FC236}">
                <a16:creationId xmlns:a16="http://schemas.microsoft.com/office/drawing/2014/main" id="{EA152098-8D89-5E03-A199-8E5DFECBB65B}"/>
              </a:ext>
            </a:extLst>
          </p:cNvPr>
          <p:cNvSpPr/>
          <p:nvPr/>
        </p:nvSpPr>
        <p:spPr>
          <a:xfrm rot="5400000">
            <a:off x="4273547" y="5323510"/>
            <a:ext cx="1066801" cy="5943602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3" name="object 5">
            <a:extLst>
              <a:ext uri="{FF2B5EF4-FFF2-40B4-BE49-F238E27FC236}">
                <a16:creationId xmlns:a16="http://schemas.microsoft.com/office/drawing/2014/main" id="{B78FC612-0760-1970-4F0A-899960ACA68E}"/>
              </a:ext>
            </a:extLst>
          </p:cNvPr>
          <p:cNvSpPr txBox="1">
            <a:spLocks/>
          </p:cNvSpPr>
          <p:nvPr/>
        </p:nvSpPr>
        <p:spPr>
          <a:xfrm>
            <a:off x="2216149" y="3711130"/>
            <a:ext cx="4800600" cy="545661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>
            <a:lvl1pPr>
              <a:defRPr sz="3300" b="1" i="0">
                <a:solidFill>
                  <a:srgbClr val="434343"/>
                </a:solidFill>
                <a:latin typeface="Trebuchet MS"/>
                <a:ea typeface="+mj-ea"/>
                <a:cs typeface="Trebuchet MS"/>
              </a:defRPr>
            </a:lvl1pPr>
          </a:lstStyle>
          <a:p>
            <a:pPr marL="12700">
              <a:spcBef>
                <a:spcPts val="114"/>
              </a:spcBef>
            </a:pPr>
            <a:r>
              <a:rPr lang="sr-Latn-BA" sz="3450" kern="0" spc="335" dirty="0">
                <a:solidFill>
                  <a:schemeClr val="tx1"/>
                </a:solidFill>
              </a:rPr>
              <a:t>OPIS PROJEKTA</a:t>
            </a:r>
            <a:endParaRPr lang="sr-Latn-BA" sz="3450" kern="0" dirty="0">
              <a:solidFill>
                <a:schemeClr val="tx1"/>
              </a:solidFill>
            </a:endParaRPr>
          </a:p>
        </p:txBody>
      </p:sp>
      <p:sp>
        <p:nvSpPr>
          <p:cNvPr id="15" name="object 5">
            <a:extLst>
              <a:ext uri="{FF2B5EF4-FFF2-40B4-BE49-F238E27FC236}">
                <a16:creationId xmlns:a16="http://schemas.microsoft.com/office/drawing/2014/main" id="{BE0DCF18-2559-74FA-A626-4E60C4BCB5FE}"/>
              </a:ext>
            </a:extLst>
          </p:cNvPr>
          <p:cNvSpPr txBox="1">
            <a:spLocks/>
          </p:cNvSpPr>
          <p:nvPr/>
        </p:nvSpPr>
        <p:spPr>
          <a:xfrm>
            <a:off x="2216149" y="5867620"/>
            <a:ext cx="4800600" cy="545661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>
            <a:lvl1pPr>
              <a:defRPr sz="3300" b="1" i="0">
                <a:solidFill>
                  <a:srgbClr val="434343"/>
                </a:solidFill>
                <a:latin typeface="Trebuchet MS"/>
                <a:ea typeface="+mj-ea"/>
                <a:cs typeface="Trebuchet MS"/>
              </a:defRPr>
            </a:lvl1pPr>
          </a:lstStyle>
          <a:p>
            <a:pPr marL="12700">
              <a:spcBef>
                <a:spcPts val="114"/>
              </a:spcBef>
            </a:pPr>
            <a:r>
              <a:rPr lang="sr-Latn-BA" sz="3450" kern="0" spc="335" dirty="0">
                <a:solidFill>
                  <a:schemeClr val="tx1"/>
                </a:solidFill>
              </a:rPr>
              <a:t>PRIMJER UPOTREBE</a:t>
            </a:r>
            <a:endParaRPr lang="sr-Latn-BA" sz="3450" kern="0" dirty="0">
              <a:solidFill>
                <a:schemeClr val="tx1"/>
              </a:solidFill>
            </a:endParaRPr>
          </a:p>
        </p:txBody>
      </p:sp>
      <p:sp>
        <p:nvSpPr>
          <p:cNvPr id="16" name="object 5">
            <a:extLst>
              <a:ext uri="{FF2B5EF4-FFF2-40B4-BE49-F238E27FC236}">
                <a16:creationId xmlns:a16="http://schemas.microsoft.com/office/drawing/2014/main" id="{12EFFF10-C933-BDB7-211C-924B06288365}"/>
              </a:ext>
            </a:extLst>
          </p:cNvPr>
          <p:cNvSpPr txBox="1">
            <a:spLocks/>
          </p:cNvSpPr>
          <p:nvPr/>
        </p:nvSpPr>
        <p:spPr>
          <a:xfrm>
            <a:off x="2216148" y="8022479"/>
            <a:ext cx="5257802" cy="545661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>
            <a:lvl1pPr>
              <a:defRPr sz="3300" b="1" i="0">
                <a:solidFill>
                  <a:srgbClr val="434343"/>
                </a:solidFill>
                <a:latin typeface="Trebuchet MS"/>
                <a:ea typeface="+mj-ea"/>
                <a:cs typeface="Trebuchet MS"/>
              </a:defRPr>
            </a:lvl1pPr>
          </a:lstStyle>
          <a:p>
            <a:pPr marL="12700">
              <a:spcBef>
                <a:spcPts val="114"/>
              </a:spcBef>
            </a:pPr>
            <a:r>
              <a:rPr lang="sr-Latn-BA" sz="3450" kern="0" spc="335" dirty="0">
                <a:solidFill>
                  <a:schemeClr val="tx1"/>
                </a:solidFill>
              </a:rPr>
              <a:t>ZAKLJUČAK</a:t>
            </a:r>
            <a:endParaRPr lang="sr-Latn-BA" sz="3450" kern="0" dirty="0">
              <a:solidFill>
                <a:schemeClr val="tx1"/>
              </a:solidFill>
            </a:endParaRPr>
          </a:p>
        </p:txBody>
      </p:sp>
      <p:pic>
        <p:nvPicPr>
          <p:cNvPr id="1026" name="Picture 2" descr="Database storage ">
            <a:extLst>
              <a:ext uri="{FF2B5EF4-FFF2-40B4-BE49-F238E27FC236}">
                <a16:creationId xmlns:a16="http://schemas.microsoft.com/office/drawing/2014/main" id="{A3D507BF-D407-843C-3D13-5C9EFBB384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93762" y="5343296"/>
            <a:ext cx="3485416" cy="34854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3719937" y="9924998"/>
            <a:ext cx="4568190" cy="352425"/>
          </a:xfrm>
          <a:custGeom>
            <a:avLst/>
            <a:gdLst/>
            <a:ahLst/>
            <a:cxnLst/>
            <a:rect l="l" t="t" r="r" b="b"/>
            <a:pathLst>
              <a:path w="4568190" h="352425">
                <a:moveTo>
                  <a:pt x="0" y="352424"/>
                </a:moveTo>
                <a:lnTo>
                  <a:pt x="4567998" y="352424"/>
                </a:lnTo>
                <a:lnTo>
                  <a:pt x="4567998" y="0"/>
                </a:lnTo>
                <a:lnTo>
                  <a:pt x="0" y="0"/>
                </a:lnTo>
                <a:lnTo>
                  <a:pt x="0" y="352424"/>
                </a:lnTo>
                <a:close/>
              </a:path>
            </a:pathLst>
          </a:custGeom>
          <a:solidFill>
            <a:srgbClr val="DB756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3719937" y="0"/>
            <a:ext cx="4568190" cy="352425"/>
          </a:xfrm>
          <a:custGeom>
            <a:avLst/>
            <a:gdLst/>
            <a:ahLst/>
            <a:cxnLst/>
            <a:rect l="l" t="t" r="r" b="b"/>
            <a:pathLst>
              <a:path w="4568190" h="352425">
                <a:moveTo>
                  <a:pt x="0" y="352424"/>
                </a:moveTo>
                <a:lnTo>
                  <a:pt x="4567998" y="352424"/>
                </a:lnTo>
                <a:lnTo>
                  <a:pt x="4567998" y="0"/>
                </a:lnTo>
                <a:lnTo>
                  <a:pt x="0" y="0"/>
                </a:lnTo>
                <a:lnTo>
                  <a:pt x="0" y="352424"/>
                </a:lnTo>
                <a:close/>
              </a:path>
            </a:pathLst>
          </a:custGeom>
          <a:solidFill>
            <a:srgbClr val="DB756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C3972188-67DB-FE67-ED40-3BD4C33583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90775" y="1797050"/>
            <a:ext cx="11174375" cy="923330"/>
          </a:xfrm>
        </p:spPr>
        <p:txBody>
          <a:bodyPr/>
          <a:lstStyle/>
          <a:p>
            <a:r>
              <a:rPr lang="sr-Latn-BA" sz="6000" dirty="0"/>
              <a:t>MOTIVACIJA</a:t>
            </a:r>
            <a:endParaRPr lang="en-US" sz="60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93E0BFE-F67E-A090-0550-809C0270B80C}"/>
              </a:ext>
            </a:extLst>
          </p:cNvPr>
          <p:cNvSpPr txBox="1"/>
          <p:nvPr/>
        </p:nvSpPr>
        <p:spPr>
          <a:xfrm>
            <a:off x="1758950" y="3841839"/>
            <a:ext cx="783579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r-Latn-BA" sz="3600" dirty="0">
                <a:latin typeface="Trebuchet MS" panose="020B0603020202020204" pitchFamily="34" charset="0"/>
              </a:rPr>
              <a:t>1. Ubrzanje procesa razvoja softvera</a:t>
            </a:r>
            <a:endParaRPr lang="en-US" sz="3600" dirty="0">
              <a:latin typeface="Trebuchet MS" panose="020B0603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3D7264F-8887-F1DC-A168-539631D34A14}"/>
              </a:ext>
            </a:extLst>
          </p:cNvPr>
          <p:cNvSpPr txBox="1"/>
          <p:nvPr/>
        </p:nvSpPr>
        <p:spPr>
          <a:xfrm>
            <a:off x="1758950" y="4813505"/>
            <a:ext cx="1258057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r-Latn-BA" sz="3600" dirty="0">
                <a:latin typeface="Trebuchet MS" panose="020B0603020202020204" pitchFamily="34" charset="0"/>
              </a:rPr>
              <a:t>2. Smanjenje grešaka prilikom dizajniranja šeme baze podataka – vizuelni prikazi daju bolju preglednost</a:t>
            </a:r>
            <a:endParaRPr lang="en-US" sz="3600" dirty="0">
              <a:latin typeface="Trebuchet MS" panose="020B060302020202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1B80BDB-F54C-5F79-64A1-2432951445F0}"/>
              </a:ext>
            </a:extLst>
          </p:cNvPr>
          <p:cNvSpPr txBox="1"/>
          <p:nvPr/>
        </p:nvSpPr>
        <p:spPr>
          <a:xfrm>
            <a:off x="1758950" y="6339169"/>
            <a:ext cx="80241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r-Latn-BA" sz="3600" dirty="0">
                <a:latin typeface="Trebuchet MS" panose="020B0603020202020204" pitchFamily="34" charset="0"/>
              </a:rPr>
              <a:t>3. Ponovna upotreba i standardizacija</a:t>
            </a:r>
            <a:endParaRPr lang="en-US" sz="3600" dirty="0">
              <a:latin typeface="Trebuchet MS" panose="020B0603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7E49A51-A1FE-64EE-227D-01A3D7E88CEC}"/>
              </a:ext>
            </a:extLst>
          </p:cNvPr>
          <p:cNvSpPr txBox="1"/>
          <p:nvPr/>
        </p:nvSpPr>
        <p:spPr>
          <a:xfrm>
            <a:off x="4576396" y="4967626"/>
            <a:ext cx="915279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1159966-DFB7-2A08-3914-A129CABA1ECB}"/>
              </a:ext>
            </a:extLst>
          </p:cNvPr>
          <p:cNvSpPr txBox="1"/>
          <p:nvPr/>
        </p:nvSpPr>
        <p:spPr>
          <a:xfrm>
            <a:off x="4576396" y="4967626"/>
            <a:ext cx="915279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64E38EE5-15EB-4F8E-356F-B2D432610A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29188" y="707745"/>
            <a:ext cx="3810410" cy="38104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B33D10D-76AC-DA7C-AE0F-F6EB1444D366}"/>
              </a:ext>
            </a:extLst>
          </p:cNvPr>
          <p:cNvSpPr txBox="1"/>
          <p:nvPr/>
        </p:nvSpPr>
        <p:spPr>
          <a:xfrm>
            <a:off x="1758950" y="7279085"/>
            <a:ext cx="1275297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r-Latn-BA" sz="3600" dirty="0">
                <a:latin typeface="Trebuchet MS" panose="020B0603020202020204" pitchFamily="34" charset="0"/>
              </a:rPr>
              <a:t>4. Podrška za različite sisteme upravljanja bazama podataka</a:t>
            </a:r>
            <a:endParaRPr lang="en-US" sz="3600" dirty="0">
              <a:latin typeface="Trebuchet MS" panose="020B0603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E56DE3F-9E78-E0B9-ED1C-2A1962348A98}"/>
              </a:ext>
            </a:extLst>
          </p:cNvPr>
          <p:cNvSpPr txBox="1"/>
          <p:nvPr/>
        </p:nvSpPr>
        <p:spPr>
          <a:xfrm>
            <a:off x="1758950" y="8250751"/>
            <a:ext cx="736131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r-Latn-BA" sz="3600" dirty="0">
                <a:latin typeface="Trebuchet MS" panose="020B0603020202020204" pitchFamily="34" charset="0"/>
              </a:rPr>
              <a:t>5. Održavanje i proširivost sistema</a:t>
            </a:r>
            <a:endParaRPr lang="en-US" sz="3600" dirty="0">
              <a:latin typeface="Trebuchet MS" panose="020B06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925481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6">
            <a:extLst>
              <a:ext uri="{FF2B5EF4-FFF2-40B4-BE49-F238E27FC236}">
                <a16:creationId xmlns:a16="http://schemas.microsoft.com/office/drawing/2014/main" id="{A0125C23-66BE-11F4-1D1E-8A56A7152444}"/>
              </a:ext>
            </a:extLst>
          </p:cNvPr>
          <p:cNvSpPr/>
          <p:nvPr/>
        </p:nvSpPr>
        <p:spPr>
          <a:xfrm rot="5400000">
            <a:off x="4273549" y="-1098547"/>
            <a:ext cx="1066801" cy="5943598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2216149" y="1596073"/>
            <a:ext cx="3124201" cy="545661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lang="sr-Latn-BA" sz="3450" spc="335" dirty="0">
                <a:solidFill>
                  <a:schemeClr val="tx1"/>
                </a:solidFill>
              </a:rPr>
              <a:t>MOTIVACIJA</a:t>
            </a:r>
            <a:endParaRPr sz="3450" dirty="0">
              <a:solidFill>
                <a:schemeClr val="tx1"/>
              </a:solidFill>
            </a:endParaRPr>
          </a:p>
        </p:txBody>
      </p:sp>
      <p:sp>
        <p:nvSpPr>
          <p:cNvPr id="6" name="object 6"/>
          <p:cNvSpPr/>
          <p:nvPr/>
        </p:nvSpPr>
        <p:spPr>
          <a:xfrm>
            <a:off x="0" y="0"/>
            <a:ext cx="347345" cy="3810000"/>
          </a:xfrm>
          <a:custGeom>
            <a:avLst/>
            <a:gdLst/>
            <a:ahLst/>
            <a:cxnLst/>
            <a:rect l="l" t="t" r="r" b="b"/>
            <a:pathLst>
              <a:path w="347345" h="3810000">
                <a:moveTo>
                  <a:pt x="0" y="3809707"/>
                </a:moveTo>
                <a:lnTo>
                  <a:pt x="346774" y="3809707"/>
                </a:lnTo>
                <a:lnTo>
                  <a:pt x="346774" y="0"/>
                </a:lnTo>
                <a:lnTo>
                  <a:pt x="0" y="0"/>
                </a:lnTo>
                <a:lnTo>
                  <a:pt x="0" y="3809707"/>
                </a:lnTo>
                <a:close/>
              </a:path>
            </a:pathLst>
          </a:custGeom>
          <a:solidFill>
            <a:srgbClr val="DB756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6">
            <a:extLst>
              <a:ext uri="{FF2B5EF4-FFF2-40B4-BE49-F238E27FC236}">
                <a16:creationId xmlns:a16="http://schemas.microsoft.com/office/drawing/2014/main" id="{96B64703-4772-24D3-9A53-655F778D4FB3}"/>
              </a:ext>
            </a:extLst>
          </p:cNvPr>
          <p:cNvSpPr/>
          <p:nvPr/>
        </p:nvSpPr>
        <p:spPr>
          <a:xfrm rot="5400000">
            <a:off x="4273548" y="1035053"/>
            <a:ext cx="1066801" cy="5943597"/>
          </a:xfrm>
          <a:prstGeom prst="roundRect">
            <a:avLst/>
          </a:prstGeom>
          <a:solidFill>
            <a:srgbClr val="DB756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1" name="object 6">
            <a:extLst>
              <a:ext uri="{FF2B5EF4-FFF2-40B4-BE49-F238E27FC236}">
                <a16:creationId xmlns:a16="http://schemas.microsoft.com/office/drawing/2014/main" id="{D8D6411F-CA5D-F50D-3793-CE79B30888F7}"/>
              </a:ext>
            </a:extLst>
          </p:cNvPr>
          <p:cNvSpPr/>
          <p:nvPr/>
        </p:nvSpPr>
        <p:spPr>
          <a:xfrm rot="5400000">
            <a:off x="4273548" y="3168652"/>
            <a:ext cx="1066801" cy="5943599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2" name="object 6">
            <a:extLst>
              <a:ext uri="{FF2B5EF4-FFF2-40B4-BE49-F238E27FC236}">
                <a16:creationId xmlns:a16="http://schemas.microsoft.com/office/drawing/2014/main" id="{EA152098-8D89-5E03-A199-8E5DFECBB65B}"/>
              </a:ext>
            </a:extLst>
          </p:cNvPr>
          <p:cNvSpPr/>
          <p:nvPr/>
        </p:nvSpPr>
        <p:spPr>
          <a:xfrm rot="5400000">
            <a:off x="4273547" y="5323510"/>
            <a:ext cx="1066801" cy="5943602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3" name="object 5">
            <a:extLst>
              <a:ext uri="{FF2B5EF4-FFF2-40B4-BE49-F238E27FC236}">
                <a16:creationId xmlns:a16="http://schemas.microsoft.com/office/drawing/2014/main" id="{B78FC612-0760-1970-4F0A-899960ACA68E}"/>
              </a:ext>
            </a:extLst>
          </p:cNvPr>
          <p:cNvSpPr txBox="1">
            <a:spLocks/>
          </p:cNvSpPr>
          <p:nvPr/>
        </p:nvSpPr>
        <p:spPr>
          <a:xfrm>
            <a:off x="2216149" y="3711130"/>
            <a:ext cx="4800600" cy="545661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>
            <a:lvl1pPr>
              <a:defRPr sz="3300" b="1" i="0">
                <a:solidFill>
                  <a:srgbClr val="434343"/>
                </a:solidFill>
                <a:latin typeface="Trebuchet MS"/>
                <a:ea typeface="+mj-ea"/>
                <a:cs typeface="Trebuchet MS"/>
              </a:defRPr>
            </a:lvl1pPr>
          </a:lstStyle>
          <a:p>
            <a:pPr marL="12700">
              <a:spcBef>
                <a:spcPts val="114"/>
              </a:spcBef>
            </a:pPr>
            <a:r>
              <a:rPr lang="sr-Latn-BA" sz="3450" kern="0" spc="335" dirty="0">
                <a:solidFill>
                  <a:schemeClr val="bg1"/>
                </a:solidFill>
              </a:rPr>
              <a:t>OPIS PROJEKTA</a:t>
            </a:r>
            <a:endParaRPr lang="sr-Latn-BA" sz="3450" kern="0" dirty="0">
              <a:solidFill>
                <a:schemeClr val="bg1"/>
              </a:solidFill>
            </a:endParaRPr>
          </a:p>
        </p:txBody>
      </p:sp>
      <p:sp>
        <p:nvSpPr>
          <p:cNvPr id="15" name="object 5">
            <a:extLst>
              <a:ext uri="{FF2B5EF4-FFF2-40B4-BE49-F238E27FC236}">
                <a16:creationId xmlns:a16="http://schemas.microsoft.com/office/drawing/2014/main" id="{BE0DCF18-2559-74FA-A626-4E60C4BCB5FE}"/>
              </a:ext>
            </a:extLst>
          </p:cNvPr>
          <p:cNvSpPr txBox="1">
            <a:spLocks/>
          </p:cNvSpPr>
          <p:nvPr/>
        </p:nvSpPr>
        <p:spPr>
          <a:xfrm>
            <a:off x="2216149" y="5867620"/>
            <a:ext cx="4800600" cy="545661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>
            <a:lvl1pPr>
              <a:defRPr sz="3300" b="1" i="0">
                <a:solidFill>
                  <a:srgbClr val="434343"/>
                </a:solidFill>
                <a:latin typeface="Trebuchet MS"/>
                <a:ea typeface="+mj-ea"/>
                <a:cs typeface="Trebuchet MS"/>
              </a:defRPr>
            </a:lvl1pPr>
          </a:lstStyle>
          <a:p>
            <a:pPr marL="12700">
              <a:spcBef>
                <a:spcPts val="114"/>
              </a:spcBef>
            </a:pPr>
            <a:r>
              <a:rPr lang="sr-Latn-BA" sz="3450" kern="0" spc="335" dirty="0">
                <a:solidFill>
                  <a:schemeClr val="tx1"/>
                </a:solidFill>
              </a:rPr>
              <a:t>PRIMJER UPOTREBE</a:t>
            </a:r>
            <a:endParaRPr lang="sr-Latn-BA" sz="3450" kern="0" dirty="0">
              <a:solidFill>
                <a:schemeClr val="tx1"/>
              </a:solidFill>
            </a:endParaRPr>
          </a:p>
        </p:txBody>
      </p:sp>
      <p:sp>
        <p:nvSpPr>
          <p:cNvPr id="16" name="object 5">
            <a:extLst>
              <a:ext uri="{FF2B5EF4-FFF2-40B4-BE49-F238E27FC236}">
                <a16:creationId xmlns:a16="http://schemas.microsoft.com/office/drawing/2014/main" id="{12EFFF10-C933-BDB7-211C-924B06288365}"/>
              </a:ext>
            </a:extLst>
          </p:cNvPr>
          <p:cNvSpPr txBox="1">
            <a:spLocks/>
          </p:cNvSpPr>
          <p:nvPr/>
        </p:nvSpPr>
        <p:spPr>
          <a:xfrm>
            <a:off x="2216148" y="8022479"/>
            <a:ext cx="5257802" cy="545661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>
            <a:lvl1pPr>
              <a:defRPr sz="3300" b="1" i="0">
                <a:solidFill>
                  <a:srgbClr val="434343"/>
                </a:solidFill>
                <a:latin typeface="Trebuchet MS"/>
                <a:ea typeface="+mj-ea"/>
                <a:cs typeface="Trebuchet MS"/>
              </a:defRPr>
            </a:lvl1pPr>
          </a:lstStyle>
          <a:p>
            <a:pPr marL="12700">
              <a:spcBef>
                <a:spcPts val="114"/>
              </a:spcBef>
            </a:pPr>
            <a:r>
              <a:rPr lang="sr-Latn-BA" sz="3450" kern="0" spc="335" dirty="0">
                <a:solidFill>
                  <a:schemeClr val="tx1"/>
                </a:solidFill>
              </a:rPr>
              <a:t>ZAKLJUČAK</a:t>
            </a:r>
            <a:endParaRPr lang="sr-Latn-BA" sz="3450" kern="0" dirty="0">
              <a:solidFill>
                <a:schemeClr val="tx1"/>
              </a:solidFill>
            </a:endParaRPr>
          </a:p>
        </p:txBody>
      </p:sp>
      <p:pic>
        <p:nvPicPr>
          <p:cNvPr id="2" name="Picture 2" descr="Database storage ">
            <a:extLst>
              <a:ext uri="{FF2B5EF4-FFF2-40B4-BE49-F238E27FC236}">
                <a16:creationId xmlns:a16="http://schemas.microsoft.com/office/drawing/2014/main" id="{1FD29F4F-3F97-51D9-585A-FE97969764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93762" y="5343296"/>
            <a:ext cx="3485416" cy="34854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610866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3719937" y="9924998"/>
            <a:ext cx="4568190" cy="352425"/>
          </a:xfrm>
          <a:custGeom>
            <a:avLst/>
            <a:gdLst/>
            <a:ahLst/>
            <a:cxnLst/>
            <a:rect l="l" t="t" r="r" b="b"/>
            <a:pathLst>
              <a:path w="4568190" h="352425">
                <a:moveTo>
                  <a:pt x="0" y="352424"/>
                </a:moveTo>
                <a:lnTo>
                  <a:pt x="4567998" y="352424"/>
                </a:lnTo>
                <a:lnTo>
                  <a:pt x="4567998" y="0"/>
                </a:lnTo>
                <a:lnTo>
                  <a:pt x="0" y="0"/>
                </a:lnTo>
                <a:lnTo>
                  <a:pt x="0" y="352424"/>
                </a:lnTo>
                <a:close/>
              </a:path>
            </a:pathLst>
          </a:custGeom>
          <a:solidFill>
            <a:srgbClr val="DB756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3719937" y="0"/>
            <a:ext cx="4568190" cy="352425"/>
          </a:xfrm>
          <a:custGeom>
            <a:avLst/>
            <a:gdLst/>
            <a:ahLst/>
            <a:cxnLst/>
            <a:rect l="l" t="t" r="r" b="b"/>
            <a:pathLst>
              <a:path w="4568190" h="352425">
                <a:moveTo>
                  <a:pt x="0" y="352424"/>
                </a:moveTo>
                <a:lnTo>
                  <a:pt x="4567998" y="352424"/>
                </a:lnTo>
                <a:lnTo>
                  <a:pt x="4567998" y="0"/>
                </a:lnTo>
                <a:lnTo>
                  <a:pt x="0" y="0"/>
                </a:lnTo>
                <a:lnTo>
                  <a:pt x="0" y="352424"/>
                </a:lnTo>
                <a:close/>
              </a:path>
            </a:pathLst>
          </a:custGeom>
          <a:solidFill>
            <a:srgbClr val="DB756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C3972188-67DB-FE67-ED40-3BD4C33583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90776" y="1797050"/>
            <a:ext cx="12623488" cy="923330"/>
          </a:xfrm>
        </p:spPr>
        <p:txBody>
          <a:bodyPr/>
          <a:lstStyle/>
          <a:p>
            <a:r>
              <a:rPr lang="sr-Latn-BA" sz="6000" dirty="0"/>
              <a:t>GLAVNI CILJ PROJEKTA</a:t>
            </a:r>
            <a:endParaRPr lang="en-US" sz="6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7C1E1E5-71C2-DA62-B5CF-FAB56E9F60FE}"/>
              </a:ext>
            </a:extLst>
          </p:cNvPr>
          <p:cNvSpPr txBox="1"/>
          <p:nvPr/>
        </p:nvSpPr>
        <p:spPr>
          <a:xfrm>
            <a:off x="2085403" y="4364926"/>
            <a:ext cx="11789347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r-Latn-BA" sz="3600" dirty="0">
                <a:latin typeface="Trebuchet MS" panose="020B0603020202020204" pitchFamily="34" charset="0"/>
              </a:rPr>
              <a:t>Glavni cilj projekta je razviti efikasan i jednostavan alat u vidu DSL-a koji omogućava brzo, tačno i automatizovano generisanje </a:t>
            </a:r>
            <a:r>
              <a:rPr lang="en-US" sz="3600" dirty="0">
                <a:latin typeface="Trebuchet MS" panose="020B0603020202020204" pitchFamily="34" charset="0"/>
              </a:rPr>
              <a:t>SQL </a:t>
            </a:r>
            <a:r>
              <a:rPr lang="sr-Latn-BA" sz="3600">
                <a:latin typeface="Trebuchet MS" panose="020B0603020202020204" pitchFamily="34" charset="0"/>
              </a:rPr>
              <a:t>šema </a:t>
            </a:r>
            <a:r>
              <a:rPr lang="sr-Latn-BA" sz="3600" dirty="0">
                <a:latin typeface="Trebuchet MS" panose="020B0603020202020204" pitchFamily="34" charset="0"/>
              </a:rPr>
              <a:t>baza podataka, prilagođenih potrebama korisnika i domenskih </a:t>
            </a:r>
            <a:r>
              <a:rPr lang="sr-Latn-BA" sz="3600">
                <a:latin typeface="Trebuchet MS" panose="020B0603020202020204" pitchFamily="34" charset="0"/>
              </a:rPr>
              <a:t>aplikacija.</a:t>
            </a:r>
            <a:endParaRPr lang="en-US" sz="3600" dirty="0">
              <a:latin typeface="Trebuchet MS" panose="020B0603020202020204" pitchFamily="34" charset="0"/>
            </a:endParaRP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96E9B9C6-90F8-E01E-64BE-F1ED0481DA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29188" y="707745"/>
            <a:ext cx="3810410" cy="38104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802813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A7451C5E-26CE-6A2A-9636-32CDC404C0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8304FFB2-ECB9-6AE2-6AE4-CE79A25EC00A}"/>
              </a:ext>
            </a:extLst>
          </p:cNvPr>
          <p:cNvSpPr/>
          <p:nvPr/>
        </p:nvSpPr>
        <p:spPr>
          <a:xfrm>
            <a:off x="13719937" y="9924998"/>
            <a:ext cx="4568190" cy="352425"/>
          </a:xfrm>
          <a:custGeom>
            <a:avLst/>
            <a:gdLst/>
            <a:ahLst/>
            <a:cxnLst/>
            <a:rect l="l" t="t" r="r" b="b"/>
            <a:pathLst>
              <a:path w="4568190" h="352425">
                <a:moveTo>
                  <a:pt x="0" y="352424"/>
                </a:moveTo>
                <a:lnTo>
                  <a:pt x="4567998" y="352424"/>
                </a:lnTo>
                <a:lnTo>
                  <a:pt x="4567998" y="0"/>
                </a:lnTo>
                <a:lnTo>
                  <a:pt x="0" y="0"/>
                </a:lnTo>
                <a:lnTo>
                  <a:pt x="0" y="352424"/>
                </a:lnTo>
                <a:close/>
              </a:path>
            </a:pathLst>
          </a:custGeom>
          <a:solidFill>
            <a:srgbClr val="DB756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87B56B5B-11EF-60D5-AB12-E914A517EC39}"/>
              </a:ext>
            </a:extLst>
          </p:cNvPr>
          <p:cNvSpPr/>
          <p:nvPr/>
        </p:nvSpPr>
        <p:spPr>
          <a:xfrm>
            <a:off x="13719937" y="0"/>
            <a:ext cx="4568190" cy="352425"/>
          </a:xfrm>
          <a:custGeom>
            <a:avLst/>
            <a:gdLst/>
            <a:ahLst/>
            <a:cxnLst/>
            <a:rect l="l" t="t" r="r" b="b"/>
            <a:pathLst>
              <a:path w="4568190" h="352425">
                <a:moveTo>
                  <a:pt x="0" y="352424"/>
                </a:moveTo>
                <a:lnTo>
                  <a:pt x="4567998" y="352424"/>
                </a:lnTo>
                <a:lnTo>
                  <a:pt x="4567998" y="0"/>
                </a:lnTo>
                <a:lnTo>
                  <a:pt x="0" y="0"/>
                </a:lnTo>
                <a:lnTo>
                  <a:pt x="0" y="352424"/>
                </a:lnTo>
                <a:close/>
              </a:path>
            </a:pathLst>
          </a:custGeom>
          <a:solidFill>
            <a:srgbClr val="DB756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0A4016A0-D5BF-64AD-48B9-12293FB17B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90776" y="1797050"/>
            <a:ext cx="12623488" cy="923330"/>
          </a:xfrm>
        </p:spPr>
        <p:txBody>
          <a:bodyPr/>
          <a:lstStyle/>
          <a:p>
            <a:r>
              <a:rPr lang="sr-Latn-BA" sz="6000" dirty="0"/>
              <a:t>SPECIFIČNI CILJEVI PROJEKTA</a:t>
            </a:r>
            <a:endParaRPr lang="en-US" sz="6000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2B0CE11D-3251-E969-1A7C-4939D0C0F5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29188" y="707745"/>
            <a:ext cx="3810410" cy="38104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9D93B09-EE25-2677-8267-6B2B6C41B89A}"/>
              </a:ext>
            </a:extLst>
          </p:cNvPr>
          <p:cNvSpPr txBox="1"/>
          <p:nvPr/>
        </p:nvSpPr>
        <p:spPr>
          <a:xfrm>
            <a:off x="2063750" y="4274919"/>
            <a:ext cx="1254721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r-Latn-BA" sz="3600" dirty="0">
                <a:latin typeface="Trebuchet MS" panose="020B0603020202020204" pitchFamily="34" charset="0"/>
              </a:rPr>
              <a:t>1. Automatizacija procesa dizajniranja šema baza podataka</a:t>
            </a:r>
            <a:endParaRPr lang="en-US" sz="3600" dirty="0">
              <a:latin typeface="Trebuchet MS" panose="020B0603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657A7E6-2D02-AA22-A075-BABD0A4CD51F}"/>
              </a:ext>
            </a:extLst>
          </p:cNvPr>
          <p:cNvSpPr txBox="1"/>
          <p:nvPr/>
        </p:nvSpPr>
        <p:spPr>
          <a:xfrm>
            <a:off x="2076551" y="5265519"/>
            <a:ext cx="848418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r-Latn-BA" sz="3600" dirty="0">
                <a:latin typeface="Trebuchet MS" panose="020B0603020202020204" pitchFamily="34" charset="0"/>
              </a:rPr>
              <a:t>2. Povećanje produktivnosti programera</a:t>
            </a:r>
            <a:endParaRPr lang="en-US" sz="3600" dirty="0">
              <a:latin typeface="Trebuchet MS" panose="020B0603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6EE4896-F170-B014-18AF-C9F44F0E6F89}"/>
              </a:ext>
            </a:extLst>
          </p:cNvPr>
          <p:cNvSpPr txBox="1"/>
          <p:nvPr/>
        </p:nvSpPr>
        <p:spPr>
          <a:xfrm>
            <a:off x="2076551" y="6256119"/>
            <a:ext cx="852348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r-Latn-BA" sz="3600" dirty="0">
                <a:latin typeface="Trebuchet MS" panose="020B0603020202020204" pitchFamily="34" charset="0"/>
              </a:rPr>
              <a:t>3. Jednostavnost korišćenja za korisnike</a:t>
            </a:r>
            <a:endParaRPr lang="en-US" sz="3600" dirty="0">
              <a:latin typeface="Trebuchet MS" panose="020B0603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C02DA35-7FF5-ECF1-2EA3-75E1265B1C62}"/>
              </a:ext>
            </a:extLst>
          </p:cNvPr>
          <p:cNvSpPr txBox="1"/>
          <p:nvPr/>
        </p:nvSpPr>
        <p:spPr>
          <a:xfrm>
            <a:off x="2063750" y="7246719"/>
            <a:ext cx="1453949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r-Latn-BA" sz="3600" dirty="0">
                <a:latin typeface="Trebuchet MS" panose="020B0603020202020204" pitchFamily="34" charset="0"/>
              </a:rPr>
              <a:t>4. Podrška za više DBMS sistema (</a:t>
            </a:r>
            <a:r>
              <a:rPr lang="sr-Latn-BA" sz="3600" dirty="0" err="1">
                <a:latin typeface="Trebuchet MS" panose="020B0603020202020204" pitchFamily="34" charset="0"/>
              </a:rPr>
              <a:t>MySQL</a:t>
            </a:r>
            <a:r>
              <a:rPr lang="sr-Latn-BA" sz="3600" dirty="0">
                <a:latin typeface="Trebuchet MS" panose="020B0603020202020204" pitchFamily="34" charset="0"/>
              </a:rPr>
              <a:t>, </a:t>
            </a:r>
            <a:r>
              <a:rPr lang="sr-Latn-BA" sz="3600" dirty="0" err="1">
                <a:latin typeface="Trebuchet MS" panose="020B0603020202020204" pitchFamily="34" charset="0"/>
              </a:rPr>
              <a:t>PostrgreSQL</a:t>
            </a:r>
            <a:r>
              <a:rPr lang="sr-Latn-BA" sz="3600" dirty="0">
                <a:latin typeface="Trebuchet MS" panose="020B0603020202020204" pitchFamily="34" charset="0"/>
              </a:rPr>
              <a:t>, </a:t>
            </a:r>
            <a:r>
              <a:rPr lang="sr-Latn-BA" sz="3600" dirty="0" err="1">
                <a:latin typeface="Trebuchet MS" panose="020B0603020202020204" pitchFamily="34" charset="0"/>
              </a:rPr>
              <a:t>Oracle</a:t>
            </a:r>
            <a:r>
              <a:rPr lang="sr-Latn-BA" sz="3600" dirty="0">
                <a:latin typeface="Trebuchet MS" panose="020B0603020202020204" pitchFamily="34" charset="0"/>
              </a:rPr>
              <a:t> DB, …)</a:t>
            </a:r>
            <a:endParaRPr lang="en-US" sz="3600" dirty="0">
              <a:latin typeface="Trebuchet MS" panose="020B06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65997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DE68A0-51FE-4ED2-38C4-D2043C1184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DD0349C6-40E0-1345-8861-E115AD69568A}"/>
              </a:ext>
            </a:extLst>
          </p:cNvPr>
          <p:cNvSpPr/>
          <p:nvPr/>
        </p:nvSpPr>
        <p:spPr>
          <a:xfrm>
            <a:off x="13719937" y="9924998"/>
            <a:ext cx="4568190" cy="352425"/>
          </a:xfrm>
          <a:custGeom>
            <a:avLst/>
            <a:gdLst/>
            <a:ahLst/>
            <a:cxnLst/>
            <a:rect l="l" t="t" r="r" b="b"/>
            <a:pathLst>
              <a:path w="4568190" h="352425">
                <a:moveTo>
                  <a:pt x="0" y="352424"/>
                </a:moveTo>
                <a:lnTo>
                  <a:pt x="4567998" y="352424"/>
                </a:lnTo>
                <a:lnTo>
                  <a:pt x="4567998" y="0"/>
                </a:lnTo>
                <a:lnTo>
                  <a:pt x="0" y="0"/>
                </a:lnTo>
                <a:lnTo>
                  <a:pt x="0" y="352424"/>
                </a:lnTo>
                <a:close/>
              </a:path>
            </a:pathLst>
          </a:custGeom>
          <a:solidFill>
            <a:srgbClr val="DB756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3AD11D2A-2A1F-8ECC-7245-73788FF5E3C8}"/>
              </a:ext>
            </a:extLst>
          </p:cNvPr>
          <p:cNvSpPr/>
          <p:nvPr/>
        </p:nvSpPr>
        <p:spPr>
          <a:xfrm>
            <a:off x="13719937" y="0"/>
            <a:ext cx="4568190" cy="352425"/>
          </a:xfrm>
          <a:custGeom>
            <a:avLst/>
            <a:gdLst/>
            <a:ahLst/>
            <a:cxnLst/>
            <a:rect l="l" t="t" r="r" b="b"/>
            <a:pathLst>
              <a:path w="4568190" h="352425">
                <a:moveTo>
                  <a:pt x="0" y="352424"/>
                </a:moveTo>
                <a:lnTo>
                  <a:pt x="4567998" y="352424"/>
                </a:lnTo>
                <a:lnTo>
                  <a:pt x="4567998" y="0"/>
                </a:lnTo>
                <a:lnTo>
                  <a:pt x="0" y="0"/>
                </a:lnTo>
                <a:lnTo>
                  <a:pt x="0" y="352424"/>
                </a:lnTo>
                <a:close/>
              </a:path>
            </a:pathLst>
          </a:custGeom>
          <a:solidFill>
            <a:srgbClr val="DB756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B672E687-EA09-24C8-C968-40700E7FD6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90776" y="1797050"/>
            <a:ext cx="12623488" cy="923330"/>
          </a:xfrm>
        </p:spPr>
        <p:txBody>
          <a:bodyPr/>
          <a:lstStyle/>
          <a:p>
            <a:r>
              <a:rPr lang="en-US" sz="6000" dirty="0"/>
              <a:t>MOGU</a:t>
            </a:r>
            <a:r>
              <a:rPr lang="sr-Latn-RS" sz="6000" dirty="0"/>
              <a:t>ĆNOSTI PROŠIRENJA</a:t>
            </a:r>
            <a:endParaRPr lang="en-US" sz="6000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9AB58EFF-E9BF-BC22-8045-636AA5E188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29188" y="707745"/>
            <a:ext cx="3810410" cy="38104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C1F3926-8A54-F4D4-FB0F-8591B73DB65D}"/>
              </a:ext>
            </a:extLst>
          </p:cNvPr>
          <p:cNvSpPr txBox="1"/>
          <p:nvPr/>
        </p:nvSpPr>
        <p:spPr>
          <a:xfrm>
            <a:off x="2063750" y="4274919"/>
            <a:ext cx="1192743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r-Latn-BA" sz="3600" dirty="0">
                <a:latin typeface="Trebuchet MS" panose="020B0603020202020204" pitchFamily="34" charset="0"/>
              </a:rPr>
              <a:t>1. Podrška za druge modele (ER dijagrami, csv fajlovi…)</a:t>
            </a:r>
            <a:endParaRPr lang="en-US" sz="3600" dirty="0">
              <a:latin typeface="Trebuchet MS" panose="020B0603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ED9678F-6B58-AE7E-C8B7-16DE34887916}"/>
              </a:ext>
            </a:extLst>
          </p:cNvPr>
          <p:cNvSpPr txBox="1"/>
          <p:nvPr/>
        </p:nvSpPr>
        <p:spPr>
          <a:xfrm>
            <a:off x="2076551" y="5265519"/>
            <a:ext cx="1305036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r-Latn-BA" sz="3600" dirty="0">
                <a:latin typeface="Trebuchet MS" panose="020B0603020202020204" pitchFamily="34" charset="0"/>
              </a:rPr>
              <a:t>2. Unapređenje grafičkog prikaza korisnicima (web aplikacija)</a:t>
            </a:r>
            <a:endParaRPr lang="en-US" sz="3600" dirty="0">
              <a:latin typeface="Trebuchet MS" panose="020B06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300433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4379E450-F168-A98F-4CDA-997CF65C6E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6">
            <a:extLst>
              <a:ext uri="{FF2B5EF4-FFF2-40B4-BE49-F238E27FC236}">
                <a16:creationId xmlns:a16="http://schemas.microsoft.com/office/drawing/2014/main" id="{CFC3E5E4-BED6-8CF2-B0F2-BA9B7EACA5E9}"/>
              </a:ext>
            </a:extLst>
          </p:cNvPr>
          <p:cNvSpPr/>
          <p:nvPr/>
        </p:nvSpPr>
        <p:spPr>
          <a:xfrm rot="5400000">
            <a:off x="4273549" y="-1098547"/>
            <a:ext cx="1066801" cy="5943598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D9434767-AFCE-7C1E-AD45-600E4670640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216149" y="1596073"/>
            <a:ext cx="3124201" cy="545661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lang="sr-Latn-BA" sz="3450" spc="335" dirty="0">
                <a:solidFill>
                  <a:schemeClr val="tx1"/>
                </a:solidFill>
              </a:rPr>
              <a:t>MOTIVACIJA</a:t>
            </a:r>
            <a:endParaRPr sz="3450" dirty="0">
              <a:solidFill>
                <a:schemeClr val="tx1"/>
              </a:solidFill>
            </a:endParaRP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268FD949-1723-7C06-43A9-8878CF837914}"/>
              </a:ext>
            </a:extLst>
          </p:cNvPr>
          <p:cNvSpPr/>
          <p:nvPr/>
        </p:nvSpPr>
        <p:spPr>
          <a:xfrm>
            <a:off x="0" y="0"/>
            <a:ext cx="347345" cy="3810000"/>
          </a:xfrm>
          <a:custGeom>
            <a:avLst/>
            <a:gdLst/>
            <a:ahLst/>
            <a:cxnLst/>
            <a:rect l="l" t="t" r="r" b="b"/>
            <a:pathLst>
              <a:path w="347345" h="3810000">
                <a:moveTo>
                  <a:pt x="0" y="3809707"/>
                </a:moveTo>
                <a:lnTo>
                  <a:pt x="346774" y="3809707"/>
                </a:lnTo>
                <a:lnTo>
                  <a:pt x="346774" y="0"/>
                </a:lnTo>
                <a:lnTo>
                  <a:pt x="0" y="0"/>
                </a:lnTo>
                <a:lnTo>
                  <a:pt x="0" y="3809707"/>
                </a:lnTo>
                <a:close/>
              </a:path>
            </a:pathLst>
          </a:custGeom>
          <a:solidFill>
            <a:srgbClr val="DB756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6">
            <a:extLst>
              <a:ext uri="{FF2B5EF4-FFF2-40B4-BE49-F238E27FC236}">
                <a16:creationId xmlns:a16="http://schemas.microsoft.com/office/drawing/2014/main" id="{E49AA458-2E0A-D753-1878-798D548FF430}"/>
              </a:ext>
            </a:extLst>
          </p:cNvPr>
          <p:cNvSpPr/>
          <p:nvPr/>
        </p:nvSpPr>
        <p:spPr>
          <a:xfrm rot="5400000">
            <a:off x="4273548" y="1035053"/>
            <a:ext cx="1066801" cy="5943597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1" name="object 6">
            <a:extLst>
              <a:ext uri="{FF2B5EF4-FFF2-40B4-BE49-F238E27FC236}">
                <a16:creationId xmlns:a16="http://schemas.microsoft.com/office/drawing/2014/main" id="{C77A1094-C367-6DA3-CB3D-C4782457D845}"/>
              </a:ext>
            </a:extLst>
          </p:cNvPr>
          <p:cNvSpPr/>
          <p:nvPr/>
        </p:nvSpPr>
        <p:spPr>
          <a:xfrm rot="5400000">
            <a:off x="4273548" y="3168652"/>
            <a:ext cx="1066801" cy="5943599"/>
          </a:xfrm>
          <a:prstGeom prst="roundRect">
            <a:avLst/>
          </a:prstGeom>
          <a:solidFill>
            <a:srgbClr val="DB756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2" name="object 6">
            <a:extLst>
              <a:ext uri="{FF2B5EF4-FFF2-40B4-BE49-F238E27FC236}">
                <a16:creationId xmlns:a16="http://schemas.microsoft.com/office/drawing/2014/main" id="{CD8A7301-8276-5C02-BE96-94653A13B729}"/>
              </a:ext>
            </a:extLst>
          </p:cNvPr>
          <p:cNvSpPr/>
          <p:nvPr/>
        </p:nvSpPr>
        <p:spPr>
          <a:xfrm rot="5400000">
            <a:off x="4273547" y="5323510"/>
            <a:ext cx="1066801" cy="5943602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3" name="object 5">
            <a:extLst>
              <a:ext uri="{FF2B5EF4-FFF2-40B4-BE49-F238E27FC236}">
                <a16:creationId xmlns:a16="http://schemas.microsoft.com/office/drawing/2014/main" id="{60383282-245B-F3CF-0037-7C4B05C30AF1}"/>
              </a:ext>
            </a:extLst>
          </p:cNvPr>
          <p:cNvSpPr txBox="1">
            <a:spLocks/>
          </p:cNvSpPr>
          <p:nvPr/>
        </p:nvSpPr>
        <p:spPr>
          <a:xfrm>
            <a:off x="2216149" y="3711130"/>
            <a:ext cx="4800600" cy="545661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>
            <a:lvl1pPr>
              <a:defRPr sz="3300" b="1" i="0">
                <a:solidFill>
                  <a:srgbClr val="434343"/>
                </a:solidFill>
                <a:latin typeface="Trebuchet MS"/>
                <a:ea typeface="+mj-ea"/>
                <a:cs typeface="Trebuchet MS"/>
              </a:defRPr>
            </a:lvl1pPr>
          </a:lstStyle>
          <a:p>
            <a:pPr marL="12700">
              <a:spcBef>
                <a:spcPts val="114"/>
              </a:spcBef>
            </a:pPr>
            <a:r>
              <a:rPr lang="sr-Latn-BA" sz="3450" kern="0" spc="335" dirty="0">
                <a:solidFill>
                  <a:schemeClr val="tx1"/>
                </a:solidFill>
              </a:rPr>
              <a:t>OPIS PROJEKTA</a:t>
            </a:r>
            <a:endParaRPr lang="sr-Latn-BA" sz="3450" kern="0" dirty="0">
              <a:solidFill>
                <a:schemeClr val="tx1"/>
              </a:solidFill>
            </a:endParaRPr>
          </a:p>
        </p:txBody>
      </p:sp>
      <p:sp>
        <p:nvSpPr>
          <p:cNvPr id="15" name="object 5">
            <a:extLst>
              <a:ext uri="{FF2B5EF4-FFF2-40B4-BE49-F238E27FC236}">
                <a16:creationId xmlns:a16="http://schemas.microsoft.com/office/drawing/2014/main" id="{EE1EFAEE-CCE8-14CB-EDDF-F7D3EEB02039}"/>
              </a:ext>
            </a:extLst>
          </p:cNvPr>
          <p:cNvSpPr txBox="1">
            <a:spLocks/>
          </p:cNvSpPr>
          <p:nvPr/>
        </p:nvSpPr>
        <p:spPr>
          <a:xfrm>
            <a:off x="2216149" y="5867620"/>
            <a:ext cx="4800600" cy="545661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>
            <a:lvl1pPr>
              <a:defRPr sz="3300" b="1" i="0">
                <a:solidFill>
                  <a:srgbClr val="434343"/>
                </a:solidFill>
                <a:latin typeface="Trebuchet MS"/>
                <a:ea typeface="+mj-ea"/>
                <a:cs typeface="Trebuchet MS"/>
              </a:defRPr>
            </a:lvl1pPr>
          </a:lstStyle>
          <a:p>
            <a:pPr marL="12700">
              <a:spcBef>
                <a:spcPts val="114"/>
              </a:spcBef>
            </a:pPr>
            <a:r>
              <a:rPr lang="sr-Latn-BA" sz="3450" kern="0" spc="335" dirty="0">
                <a:solidFill>
                  <a:schemeClr val="bg1"/>
                </a:solidFill>
              </a:rPr>
              <a:t>PRIMJER UPOTREBE</a:t>
            </a:r>
            <a:endParaRPr lang="sr-Latn-BA" sz="3450" kern="0" dirty="0">
              <a:solidFill>
                <a:schemeClr val="bg1"/>
              </a:solidFill>
            </a:endParaRPr>
          </a:p>
        </p:txBody>
      </p:sp>
      <p:sp>
        <p:nvSpPr>
          <p:cNvPr id="16" name="object 5">
            <a:extLst>
              <a:ext uri="{FF2B5EF4-FFF2-40B4-BE49-F238E27FC236}">
                <a16:creationId xmlns:a16="http://schemas.microsoft.com/office/drawing/2014/main" id="{6F5BC0D5-86C4-8418-7D1A-555373B9C858}"/>
              </a:ext>
            </a:extLst>
          </p:cNvPr>
          <p:cNvSpPr txBox="1">
            <a:spLocks/>
          </p:cNvSpPr>
          <p:nvPr/>
        </p:nvSpPr>
        <p:spPr>
          <a:xfrm>
            <a:off x="2216148" y="8022479"/>
            <a:ext cx="5257802" cy="545661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>
            <a:lvl1pPr>
              <a:defRPr sz="3300" b="1" i="0">
                <a:solidFill>
                  <a:srgbClr val="434343"/>
                </a:solidFill>
                <a:latin typeface="Trebuchet MS"/>
                <a:ea typeface="+mj-ea"/>
                <a:cs typeface="Trebuchet MS"/>
              </a:defRPr>
            </a:lvl1pPr>
          </a:lstStyle>
          <a:p>
            <a:pPr marL="12700">
              <a:spcBef>
                <a:spcPts val="114"/>
              </a:spcBef>
            </a:pPr>
            <a:r>
              <a:rPr lang="sr-Latn-BA" sz="3450" kern="0" spc="335" dirty="0">
                <a:solidFill>
                  <a:schemeClr val="tx1"/>
                </a:solidFill>
              </a:rPr>
              <a:t>ZAKLJUČAK</a:t>
            </a:r>
            <a:endParaRPr lang="sr-Latn-BA" sz="3450" kern="0" dirty="0">
              <a:solidFill>
                <a:schemeClr val="tx1"/>
              </a:solidFill>
            </a:endParaRPr>
          </a:p>
        </p:txBody>
      </p:sp>
      <p:pic>
        <p:nvPicPr>
          <p:cNvPr id="2" name="Picture 2" descr="Database storage ">
            <a:extLst>
              <a:ext uri="{FF2B5EF4-FFF2-40B4-BE49-F238E27FC236}">
                <a16:creationId xmlns:a16="http://schemas.microsoft.com/office/drawing/2014/main" id="{456E3B8B-D95D-233A-51EC-5AE034B0EB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93762" y="5343296"/>
            <a:ext cx="3485416" cy="34854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413863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3719937" y="9924998"/>
            <a:ext cx="4568190" cy="352425"/>
          </a:xfrm>
          <a:custGeom>
            <a:avLst/>
            <a:gdLst/>
            <a:ahLst/>
            <a:cxnLst/>
            <a:rect l="l" t="t" r="r" b="b"/>
            <a:pathLst>
              <a:path w="4568190" h="352425">
                <a:moveTo>
                  <a:pt x="0" y="352424"/>
                </a:moveTo>
                <a:lnTo>
                  <a:pt x="4567998" y="352424"/>
                </a:lnTo>
                <a:lnTo>
                  <a:pt x="4567998" y="0"/>
                </a:lnTo>
                <a:lnTo>
                  <a:pt x="0" y="0"/>
                </a:lnTo>
                <a:lnTo>
                  <a:pt x="0" y="352424"/>
                </a:lnTo>
                <a:close/>
              </a:path>
            </a:pathLst>
          </a:custGeom>
          <a:solidFill>
            <a:srgbClr val="DB756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3719937" y="0"/>
            <a:ext cx="4568190" cy="352425"/>
          </a:xfrm>
          <a:custGeom>
            <a:avLst/>
            <a:gdLst/>
            <a:ahLst/>
            <a:cxnLst/>
            <a:rect l="l" t="t" r="r" b="b"/>
            <a:pathLst>
              <a:path w="4568190" h="352425">
                <a:moveTo>
                  <a:pt x="0" y="352424"/>
                </a:moveTo>
                <a:lnTo>
                  <a:pt x="4567998" y="352424"/>
                </a:lnTo>
                <a:lnTo>
                  <a:pt x="4567998" y="0"/>
                </a:lnTo>
                <a:lnTo>
                  <a:pt x="0" y="0"/>
                </a:lnTo>
                <a:lnTo>
                  <a:pt x="0" y="352424"/>
                </a:lnTo>
                <a:close/>
              </a:path>
            </a:pathLst>
          </a:custGeom>
          <a:solidFill>
            <a:srgbClr val="DB756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C3972188-67DB-FE67-ED40-3BD4C33583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90776" y="1797050"/>
            <a:ext cx="12623488" cy="923330"/>
          </a:xfrm>
        </p:spPr>
        <p:txBody>
          <a:bodyPr/>
          <a:lstStyle/>
          <a:p>
            <a:r>
              <a:rPr lang="sr-Latn-BA" sz="6000" dirty="0"/>
              <a:t>UPOTREBA SISTEMA</a:t>
            </a:r>
            <a:endParaRPr lang="en-US" sz="6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7C1E1E5-71C2-DA62-B5CF-FAB56E9F60FE}"/>
              </a:ext>
            </a:extLst>
          </p:cNvPr>
          <p:cNvSpPr txBox="1"/>
          <p:nvPr/>
        </p:nvSpPr>
        <p:spPr>
          <a:xfrm>
            <a:off x="2090776" y="3930650"/>
            <a:ext cx="10031913" cy="8215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sr-Latn-BA" sz="3600" dirty="0">
                <a:latin typeface="Trebuchet MS" panose="020B0603020202020204" pitchFamily="34" charset="0"/>
              </a:rPr>
              <a:t>Korisnik kao ulaz sistemu daje klasni dijagram.</a:t>
            </a:r>
            <a:endParaRPr lang="en-US" sz="3600" dirty="0">
              <a:latin typeface="Trebuchet MS" panose="020B0603020202020204" pitchFamily="34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D57FE04-D134-2439-55D5-E452C3F999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65150" y="5454650"/>
            <a:ext cx="3689619" cy="368961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EDBBB56-5D8A-02BB-911F-6C2713C542D2}"/>
              </a:ext>
            </a:extLst>
          </p:cNvPr>
          <p:cNvSpPr txBox="1"/>
          <p:nvPr/>
        </p:nvSpPr>
        <p:spPr>
          <a:xfrm>
            <a:off x="2090775" y="5454650"/>
            <a:ext cx="10031913" cy="16525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sr-Latn-BA" sz="3600" dirty="0">
                <a:latin typeface="Trebuchet MS" panose="020B0603020202020204" pitchFamily="34" charset="0"/>
              </a:rPr>
              <a:t>Kao rezultat se dobija generisan SQL kod za kreiranje šeme baze podataka.</a:t>
            </a:r>
            <a:endParaRPr lang="en-US" sz="3600" dirty="0">
              <a:latin typeface="Trebuchet MS" panose="020B06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832030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FB329A-E38A-C551-55F1-D315DA0F97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C627E621-1B45-E414-407B-C13536F0BC0F}"/>
              </a:ext>
            </a:extLst>
          </p:cNvPr>
          <p:cNvSpPr/>
          <p:nvPr/>
        </p:nvSpPr>
        <p:spPr>
          <a:xfrm>
            <a:off x="13719937" y="9924998"/>
            <a:ext cx="4568190" cy="352425"/>
          </a:xfrm>
          <a:custGeom>
            <a:avLst/>
            <a:gdLst/>
            <a:ahLst/>
            <a:cxnLst/>
            <a:rect l="l" t="t" r="r" b="b"/>
            <a:pathLst>
              <a:path w="4568190" h="352425">
                <a:moveTo>
                  <a:pt x="0" y="352424"/>
                </a:moveTo>
                <a:lnTo>
                  <a:pt x="4567998" y="352424"/>
                </a:lnTo>
                <a:lnTo>
                  <a:pt x="4567998" y="0"/>
                </a:lnTo>
                <a:lnTo>
                  <a:pt x="0" y="0"/>
                </a:lnTo>
                <a:lnTo>
                  <a:pt x="0" y="352424"/>
                </a:lnTo>
                <a:close/>
              </a:path>
            </a:pathLst>
          </a:custGeom>
          <a:solidFill>
            <a:srgbClr val="DB756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F6F964D5-52D8-692E-1009-518EAC6EFC92}"/>
              </a:ext>
            </a:extLst>
          </p:cNvPr>
          <p:cNvSpPr/>
          <p:nvPr/>
        </p:nvSpPr>
        <p:spPr>
          <a:xfrm>
            <a:off x="13719937" y="0"/>
            <a:ext cx="4568190" cy="352425"/>
          </a:xfrm>
          <a:custGeom>
            <a:avLst/>
            <a:gdLst/>
            <a:ahLst/>
            <a:cxnLst/>
            <a:rect l="l" t="t" r="r" b="b"/>
            <a:pathLst>
              <a:path w="4568190" h="352425">
                <a:moveTo>
                  <a:pt x="0" y="352424"/>
                </a:moveTo>
                <a:lnTo>
                  <a:pt x="4567998" y="352424"/>
                </a:lnTo>
                <a:lnTo>
                  <a:pt x="4567998" y="0"/>
                </a:lnTo>
                <a:lnTo>
                  <a:pt x="0" y="0"/>
                </a:lnTo>
                <a:lnTo>
                  <a:pt x="0" y="352424"/>
                </a:lnTo>
                <a:close/>
              </a:path>
            </a:pathLst>
          </a:custGeom>
          <a:solidFill>
            <a:srgbClr val="DB756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E519D88F-CF81-81D7-3BCE-20E35293BC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90776" y="1797050"/>
            <a:ext cx="12623488" cy="923330"/>
          </a:xfrm>
        </p:spPr>
        <p:txBody>
          <a:bodyPr/>
          <a:lstStyle/>
          <a:p>
            <a:r>
              <a:rPr lang="en-US" sz="6000" dirty="0"/>
              <a:t>ALATI ZA RAZVOJ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85C1FB1-D688-536A-D567-D240C694F2F4}"/>
              </a:ext>
            </a:extLst>
          </p:cNvPr>
          <p:cNvSpPr txBox="1"/>
          <p:nvPr/>
        </p:nvSpPr>
        <p:spPr>
          <a:xfrm>
            <a:off x="1911350" y="3958434"/>
            <a:ext cx="10434780" cy="165256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600" dirty="0">
                <a:latin typeface="Trebuchet MS" panose="020B0603020202020204" pitchFamily="34" charset="0"/>
              </a:rPr>
              <a:t>1. DSL </a:t>
            </a:r>
            <a:r>
              <a:rPr lang="en-US" sz="3600" dirty="0" err="1">
                <a:latin typeface="Trebuchet MS" panose="020B0603020202020204" pitchFamily="34" charset="0"/>
              </a:rPr>
              <a:t>jezika</a:t>
            </a:r>
            <a:br>
              <a:rPr lang="en-US" sz="3600" dirty="0">
                <a:latin typeface="Trebuchet MS" panose="020B0603020202020204" pitchFamily="34" charset="0"/>
              </a:rPr>
            </a:br>
            <a:r>
              <a:rPr lang="en-US" sz="2800" dirty="0">
                <a:latin typeface="Trebuchet MS" panose="020B0603020202020204" pitchFamily="34" charset="0"/>
              </a:rPr>
              <a:t>• </a:t>
            </a:r>
            <a:r>
              <a:rPr lang="en-US" sz="3600" dirty="0" err="1">
                <a:latin typeface="Trebuchet MS" panose="020B0603020202020204" pitchFamily="34" charset="0"/>
              </a:rPr>
              <a:t>MagicDraw</a:t>
            </a:r>
            <a:r>
              <a:rPr lang="en-US" sz="3600" dirty="0">
                <a:latin typeface="Trebuchet MS" panose="020B0603020202020204" pitchFamily="34" charset="0"/>
              </a:rPr>
              <a:t> (za </a:t>
            </a:r>
            <a:r>
              <a:rPr lang="en-US" sz="3600" dirty="0" err="1">
                <a:latin typeface="Trebuchet MS" panose="020B0603020202020204" pitchFamily="34" charset="0"/>
              </a:rPr>
              <a:t>kreiranje</a:t>
            </a:r>
            <a:r>
              <a:rPr lang="en-US" sz="3600" dirty="0">
                <a:latin typeface="Trebuchet MS" panose="020B0603020202020204" pitchFamily="34" charset="0"/>
              </a:rPr>
              <a:t> UML </a:t>
            </a:r>
            <a:r>
              <a:rPr lang="en-US" sz="3600" dirty="0" err="1">
                <a:latin typeface="Trebuchet MS" panose="020B0603020202020204" pitchFamily="34" charset="0"/>
              </a:rPr>
              <a:t>klasnih</a:t>
            </a:r>
            <a:r>
              <a:rPr lang="en-US" sz="3600" dirty="0">
                <a:latin typeface="Trebuchet MS" panose="020B0603020202020204" pitchFamily="34" charset="0"/>
              </a:rPr>
              <a:t> </a:t>
            </a:r>
            <a:r>
              <a:rPr lang="en-US" sz="3600" dirty="0" err="1">
                <a:latin typeface="Trebuchet MS" panose="020B0603020202020204" pitchFamily="34" charset="0"/>
              </a:rPr>
              <a:t>dijagrama</a:t>
            </a:r>
            <a:r>
              <a:rPr lang="en-US" sz="3600" dirty="0">
                <a:latin typeface="Trebuchet MS" panose="020B0603020202020204" pitchFamily="34" charset="0"/>
              </a:rPr>
              <a:t>)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F9C9189-6C25-170C-B70F-811ACDA1484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65150" y="5454650"/>
            <a:ext cx="3689619" cy="368961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A47E684-FEFC-D872-FB1A-F01819CFBD46}"/>
              </a:ext>
            </a:extLst>
          </p:cNvPr>
          <p:cNvSpPr txBox="1"/>
          <p:nvPr/>
        </p:nvSpPr>
        <p:spPr>
          <a:xfrm>
            <a:off x="1911350" y="6331287"/>
            <a:ext cx="10031913" cy="24960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600" dirty="0">
                <a:latin typeface="Trebuchet MS" panose="020B0603020202020204" pitchFamily="34" charset="0"/>
              </a:rPr>
              <a:t>2. </a:t>
            </a:r>
            <a:r>
              <a:rPr lang="en-US" sz="3600" dirty="0" err="1">
                <a:latin typeface="Trebuchet MS" panose="020B0603020202020204" pitchFamily="34" charset="0"/>
              </a:rPr>
              <a:t>Generatora</a:t>
            </a:r>
            <a:br>
              <a:rPr lang="en-US" sz="3600" dirty="0">
                <a:latin typeface="Trebuchet MS" panose="020B0603020202020204" pitchFamily="34" charset="0"/>
              </a:rPr>
            </a:br>
            <a:r>
              <a:rPr lang="en-US" sz="3600" dirty="0">
                <a:latin typeface="Trebuchet MS" panose="020B0603020202020204" pitchFamily="34" charset="0"/>
              </a:rPr>
              <a:t>• </a:t>
            </a:r>
            <a:r>
              <a:rPr lang="en-US" sz="3600" dirty="0" err="1">
                <a:latin typeface="Trebuchet MS" panose="020B0603020202020204" pitchFamily="34" charset="0"/>
              </a:rPr>
              <a:t>Programsko</a:t>
            </a:r>
            <a:r>
              <a:rPr lang="en-US" sz="3600" dirty="0">
                <a:latin typeface="Trebuchet MS" panose="020B0603020202020204" pitchFamily="34" charset="0"/>
              </a:rPr>
              <a:t> </a:t>
            </a:r>
            <a:r>
              <a:rPr lang="en-US" sz="3600" dirty="0" err="1">
                <a:latin typeface="Trebuchet MS" panose="020B0603020202020204" pitchFamily="34" charset="0"/>
              </a:rPr>
              <a:t>okruženje</a:t>
            </a:r>
            <a:r>
              <a:rPr lang="en-US" sz="3600" dirty="0">
                <a:latin typeface="Trebuchet MS" panose="020B0603020202020204" pitchFamily="34" charset="0"/>
              </a:rPr>
              <a:t>: Java </a:t>
            </a:r>
            <a:br>
              <a:rPr lang="en-US" sz="3600" dirty="0">
                <a:latin typeface="Trebuchet MS" panose="020B0603020202020204" pitchFamily="34" charset="0"/>
              </a:rPr>
            </a:br>
            <a:r>
              <a:rPr lang="en-US" sz="3600" dirty="0">
                <a:latin typeface="Trebuchet MS" panose="020B0603020202020204" pitchFamily="34" charset="0"/>
              </a:rPr>
              <a:t>• Template engine: </a:t>
            </a:r>
            <a:r>
              <a:rPr lang="en-US" sz="3600" dirty="0" err="1">
                <a:latin typeface="Trebuchet MS" panose="020B0603020202020204" pitchFamily="34" charset="0"/>
              </a:rPr>
              <a:t>Freemaker</a:t>
            </a:r>
            <a:r>
              <a:rPr lang="en-US" sz="3600" dirty="0">
                <a:latin typeface="Trebuchet MS" panose="020B060302020202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91105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CF9E4743-2E61-F75B-9C00-76E51E3C27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C131D0E9-A9A0-E357-36BA-87A9BF485CF5}"/>
              </a:ext>
            </a:extLst>
          </p:cNvPr>
          <p:cNvSpPr/>
          <p:nvPr/>
        </p:nvSpPr>
        <p:spPr>
          <a:xfrm>
            <a:off x="13719937" y="9924998"/>
            <a:ext cx="4568190" cy="352425"/>
          </a:xfrm>
          <a:custGeom>
            <a:avLst/>
            <a:gdLst/>
            <a:ahLst/>
            <a:cxnLst/>
            <a:rect l="l" t="t" r="r" b="b"/>
            <a:pathLst>
              <a:path w="4568190" h="352425">
                <a:moveTo>
                  <a:pt x="0" y="352424"/>
                </a:moveTo>
                <a:lnTo>
                  <a:pt x="4567998" y="352424"/>
                </a:lnTo>
                <a:lnTo>
                  <a:pt x="4567998" y="0"/>
                </a:lnTo>
                <a:lnTo>
                  <a:pt x="0" y="0"/>
                </a:lnTo>
                <a:lnTo>
                  <a:pt x="0" y="352424"/>
                </a:lnTo>
                <a:close/>
              </a:path>
            </a:pathLst>
          </a:custGeom>
          <a:solidFill>
            <a:srgbClr val="DB756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33C771D8-CB8D-7503-1B31-7DA175B631C2}"/>
              </a:ext>
            </a:extLst>
          </p:cNvPr>
          <p:cNvSpPr/>
          <p:nvPr/>
        </p:nvSpPr>
        <p:spPr>
          <a:xfrm>
            <a:off x="13719937" y="0"/>
            <a:ext cx="4568190" cy="352425"/>
          </a:xfrm>
          <a:custGeom>
            <a:avLst/>
            <a:gdLst/>
            <a:ahLst/>
            <a:cxnLst/>
            <a:rect l="l" t="t" r="r" b="b"/>
            <a:pathLst>
              <a:path w="4568190" h="352425">
                <a:moveTo>
                  <a:pt x="0" y="352424"/>
                </a:moveTo>
                <a:lnTo>
                  <a:pt x="4567998" y="352424"/>
                </a:lnTo>
                <a:lnTo>
                  <a:pt x="4567998" y="0"/>
                </a:lnTo>
                <a:lnTo>
                  <a:pt x="0" y="0"/>
                </a:lnTo>
                <a:lnTo>
                  <a:pt x="0" y="352424"/>
                </a:lnTo>
                <a:close/>
              </a:path>
            </a:pathLst>
          </a:custGeom>
          <a:solidFill>
            <a:srgbClr val="DB756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37767B0D-EFD4-7AD1-21A5-3C3B6B4302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90776" y="1797050"/>
            <a:ext cx="12623488" cy="923330"/>
          </a:xfrm>
        </p:spPr>
        <p:txBody>
          <a:bodyPr/>
          <a:lstStyle/>
          <a:p>
            <a:r>
              <a:rPr lang="sr-Latn-BA" sz="6000" dirty="0"/>
              <a:t>PRIMJER – KLASNI DIJAGRAM</a:t>
            </a:r>
            <a:endParaRPr lang="en-US" sz="60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FBE31F1-2C5A-4085-6F1D-6EFB810D4D2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65150" y="5454650"/>
            <a:ext cx="3689619" cy="368961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23FE5567-6A91-69DC-56E0-E6C0C1580B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90776" y="3016250"/>
            <a:ext cx="10259974" cy="66425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55306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4464F4B7-429F-3506-C49E-5A9A130A32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BE0124D2-2E29-84F8-9285-FB71AD3B602C}"/>
              </a:ext>
            </a:extLst>
          </p:cNvPr>
          <p:cNvSpPr/>
          <p:nvPr/>
        </p:nvSpPr>
        <p:spPr>
          <a:xfrm>
            <a:off x="13719937" y="9924998"/>
            <a:ext cx="4568190" cy="352425"/>
          </a:xfrm>
          <a:custGeom>
            <a:avLst/>
            <a:gdLst/>
            <a:ahLst/>
            <a:cxnLst/>
            <a:rect l="l" t="t" r="r" b="b"/>
            <a:pathLst>
              <a:path w="4568190" h="352425">
                <a:moveTo>
                  <a:pt x="0" y="352424"/>
                </a:moveTo>
                <a:lnTo>
                  <a:pt x="4567998" y="352424"/>
                </a:lnTo>
                <a:lnTo>
                  <a:pt x="4567998" y="0"/>
                </a:lnTo>
                <a:lnTo>
                  <a:pt x="0" y="0"/>
                </a:lnTo>
                <a:lnTo>
                  <a:pt x="0" y="352424"/>
                </a:lnTo>
                <a:close/>
              </a:path>
            </a:pathLst>
          </a:custGeom>
          <a:solidFill>
            <a:srgbClr val="DB756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DB2BC988-D3D2-E09E-C4A0-3879DF9029E2}"/>
              </a:ext>
            </a:extLst>
          </p:cNvPr>
          <p:cNvSpPr/>
          <p:nvPr/>
        </p:nvSpPr>
        <p:spPr>
          <a:xfrm>
            <a:off x="13719937" y="0"/>
            <a:ext cx="4568190" cy="352425"/>
          </a:xfrm>
          <a:custGeom>
            <a:avLst/>
            <a:gdLst/>
            <a:ahLst/>
            <a:cxnLst/>
            <a:rect l="l" t="t" r="r" b="b"/>
            <a:pathLst>
              <a:path w="4568190" h="352425">
                <a:moveTo>
                  <a:pt x="0" y="352424"/>
                </a:moveTo>
                <a:lnTo>
                  <a:pt x="4567998" y="352424"/>
                </a:lnTo>
                <a:lnTo>
                  <a:pt x="4567998" y="0"/>
                </a:lnTo>
                <a:lnTo>
                  <a:pt x="0" y="0"/>
                </a:lnTo>
                <a:lnTo>
                  <a:pt x="0" y="352424"/>
                </a:lnTo>
                <a:close/>
              </a:path>
            </a:pathLst>
          </a:custGeom>
          <a:solidFill>
            <a:srgbClr val="DB756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0F807D7D-64E7-3D91-1B37-B596211082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90776" y="1797050"/>
            <a:ext cx="12623488" cy="923330"/>
          </a:xfrm>
        </p:spPr>
        <p:txBody>
          <a:bodyPr/>
          <a:lstStyle/>
          <a:p>
            <a:r>
              <a:rPr lang="sr-Latn-BA" sz="6000" dirty="0"/>
              <a:t>PRIMJER – </a:t>
            </a:r>
            <a:r>
              <a:rPr lang="en-US" sz="6000" dirty="0"/>
              <a:t>SQL </a:t>
            </a:r>
            <a:r>
              <a:rPr lang="sr-Latn-BA" sz="6000" dirty="0"/>
              <a:t>ŠEMA 1/2</a:t>
            </a:r>
            <a:endParaRPr lang="en-US" sz="60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A2022F4-0FCD-F3B0-8942-6DFA2F7F02C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65150" y="5454650"/>
            <a:ext cx="3689619" cy="368961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B59DC55-76EB-7E2C-9569-E8BAD56FD7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90776" y="3370635"/>
            <a:ext cx="10259974" cy="58190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84942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337B4B6D-6F97-1ECF-E692-475304CA3D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C8C72F6D-138F-4B06-5661-05BC3AEEB019}"/>
              </a:ext>
            </a:extLst>
          </p:cNvPr>
          <p:cNvSpPr/>
          <p:nvPr/>
        </p:nvSpPr>
        <p:spPr>
          <a:xfrm>
            <a:off x="13719937" y="9924998"/>
            <a:ext cx="4568190" cy="352425"/>
          </a:xfrm>
          <a:custGeom>
            <a:avLst/>
            <a:gdLst/>
            <a:ahLst/>
            <a:cxnLst/>
            <a:rect l="l" t="t" r="r" b="b"/>
            <a:pathLst>
              <a:path w="4568190" h="352425">
                <a:moveTo>
                  <a:pt x="0" y="352424"/>
                </a:moveTo>
                <a:lnTo>
                  <a:pt x="4567998" y="352424"/>
                </a:lnTo>
                <a:lnTo>
                  <a:pt x="4567998" y="0"/>
                </a:lnTo>
                <a:lnTo>
                  <a:pt x="0" y="0"/>
                </a:lnTo>
                <a:lnTo>
                  <a:pt x="0" y="352424"/>
                </a:lnTo>
                <a:close/>
              </a:path>
            </a:pathLst>
          </a:custGeom>
          <a:solidFill>
            <a:srgbClr val="DB756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9F33913A-06B9-9D91-A85F-41E2CFADB501}"/>
              </a:ext>
            </a:extLst>
          </p:cNvPr>
          <p:cNvSpPr/>
          <p:nvPr/>
        </p:nvSpPr>
        <p:spPr>
          <a:xfrm>
            <a:off x="13719937" y="0"/>
            <a:ext cx="4568190" cy="352425"/>
          </a:xfrm>
          <a:custGeom>
            <a:avLst/>
            <a:gdLst/>
            <a:ahLst/>
            <a:cxnLst/>
            <a:rect l="l" t="t" r="r" b="b"/>
            <a:pathLst>
              <a:path w="4568190" h="352425">
                <a:moveTo>
                  <a:pt x="0" y="352424"/>
                </a:moveTo>
                <a:lnTo>
                  <a:pt x="4567998" y="352424"/>
                </a:lnTo>
                <a:lnTo>
                  <a:pt x="4567998" y="0"/>
                </a:lnTo>
                <a:lnTo>
                  <a:pt x="0" y="0"/>
                </a:lnTo>
                <a:lnTo>
                  <a:pt x="0" y="352424"/>
                </a:lnTo>
                <a:close/>
              </a:path>
            </a:pathLst>
          </a:custGeom>
          <a:solidFill>
            <a:srgbClr val="DB756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38EE89C8-926A-407E-69F0-E850E69889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90776" y="1797050"/>
            <a:ext cx="12623488" cy="923330"/>
          </a:xfrm>
        </p:spPr>
        <p:txBody>
          <a:bodyPr/>
          <a:lstStyle/>
          <a:p>
            <a:r>
              <a:rPr lang="sr-Latn-BA" sz="6000" dirty="0"/>
              <a:t>PRIMJER – </a:t>
            </a:r>
            <a:r>
              <a:rPr lang="en-US" sz="6000" dirty="0"/>
              <a:t>SQL </a:t>
            </a:r>
            <a:r>
              <a:rPr lang="sr-Latn-BA" sz="6000" dirty="0"/>
              <a:t>ŠEMA 2/2</a:t>
            </a:r>
            <a:endParaRPr lang="en-US" sz="60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CAEB77E-BEA1-2D18-356D-DA8D238657D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65150" y="5454650"/>
            <a:ext cx="3689619" cy="368961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9E20402-1192-4C42-8204-7891DDCED1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90776" y="3760228"/>
            <a:ext cx="10333436" cy="47341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220064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6">
            <a:extLst>
              <a:ext uri="{FF2B5EF4-FFF2-40B4-BE49-F238E27FC236}">
                <a16:creationId xmlns:a16="http://schemas.microsoft.com/office/drawing/2014/main" id="{A0125C23-66BE-11F4-1D1E-8A56A7152444}"/>
              </a:ext>
            </a:extLst>
          </p:cNvPr>
          <p:cNvSpPr/>
          <p:nvPr/>
        </p:nvSpPr>
        <p:spPr>
          <a:xfrm rot="5400000">
            <a:off x="4273549" y="-1098547"/>
            <a:ext cx="1066801" cy="5943598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2216149" y="1596073"/>
            <a:ext cx="3124201" cy="545661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lang="sr-Latn-BA" sz="3450" spc="335" dirty="0">
                <a:solidFill>
                  <a:schemeClr val="tx1"/>
                </a:solidFill>
              </a:rPr>
              <a:t>MOTIVACIJA</a:t>
            </a:r>
            <a:endParaRPr sz="3450" dirty="0">
              <a:solidFill>
                <a:schemeClr val="tx1"/>
              </a:solidFill>
            </a:endParaRPr>
          </a:p>
        </p:txBody>
      </p:sp>
      <p:sp>
        <p:nvSpPr>
          <p:cNvPr id="6" name="object 6"/>
          <p:cNvSpPr/>
          <p:nvPr/>
        </p:nvSpPr>
        <p:spPr>
          <a:xfrm>
            <a:off x="0" y="0"/>
            <a:ext cx="347345" cy="3810000"/>
          </a:xfrm>
          <a:custGeom>
            <a:avLst/>
            <a:gdLst/>
            <a:ahLst/>
            <a:cxnLst/>
            <a:rect l="l" t="t" r="r" b="b"/>
            <a:pathLst>
              <a:path w="347345" h="3810000">
                <a:moveTo>
                  <a:pt x="0" y="3809707"/>
                </a:moveTo>
                <a:lnTo>
                  <a:pt x="346774" y="3809707"/>
                </a:lnTo>
                <a:lnTo>
                  <a:pt x="346774" y="0"/>
                </a:lnTo>
                <a:lnTo>
                  <a:pt x="0" y="0"/>
                </a:lnTo>
                <a:lnTo>
                  <a:pt x="0" y="3809707"/>
                </a:lnTo>
                <a:close/>
              </a:path>
            </a:pathLst>
          </a:custGeom>
          <a:solidFill>
            <a:srgbClr val="DB756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6">
            <a:extLst>
              <a:ext uri="{FF2B5EF4-FFF2-40B4-BE49-F238E27FC236}">
                <a16:creationId xmlns:a16="http://schemas.microsoft.com/office/drawing/2014/main" id="{96B64703-4772-24D3-9A53-655F778D4FB3}"/>
              </a:ext>
            </a:extLst>
          </p:cNvPr>
          <p:cNvSpPr/>
          <p:nvPr/>
        </p:nvSpPr>
        <p:spPr>
          <a:xfrm rot="5400000">
            <a:off x="4273548" y="1035053"/>
            <a:ext cx="1066801" cy="5943597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1" name="object 6">
            <a:extLst>
              <a:ext uri="{FF2B5EF4-FFF2-40B4-BE49-F238E27FC236}">
                <a16:creationId xmlns:a16="http://schemas.microsoft.com/office/drawing/2014/main" id="{D8D6411F-CA5D-F50D-3793-CE79B30888F7}"/>
              </a:ext>
            </a:extLst>
          </p:cNvPr>
          <p:cNvSpPr/>
          <p:nvPr/>
        </p:nvSpPr>
        <p:spPr>
          <a:xfrm rot="5400000">
            <a:off x="4273548" y="3168652"/>
            <a:ext cx="1066801" cy="5943599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2" name="object 6">
            <a:extLst>
              <a:ext uri="{FF2B5EF4-FFF2-40B4-BE49-F238E27FC236}">
                <a16:creationId xmlns:a16="http://schemas.microsoft.com/office/drawing/2014/main" id="{EA152098-8D89-5E03-A199-8E5DFECBB65B}"/>
              </a:ext>
            </a:extLst>
          </p:cNvPr>
          <p:cNvSpPr/>
          <p:nvPr/>
        </p:nvSpPr>
        <p:spPr>
          <a:xfrm rot="5400000">
            <a:off x="4273547" y="5323510"/>
            <a:ext cx="1066801" cy="5943602"/>
          </a:xfrm>
          <a:prstGeom prst="roundRect">
            <a:avLst/>
          </a:prstGeom>
          <a:solidFill>
            <a:srgbClr val="DB756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3" name="object 5">
            <a:extLst>
              <a:ext uri="{FF2B5EF4-FFF2-40B4-BE49-F238E27FC236}">
                <a16:creationId xmlns:a16="http://schemas.microsoft.com/office/drawing/2014/main" id="{B78FC612-0760-1970-4F0A-899960ACA68E}"/>
              </a:ext>
            </a:extLst>
          </p:cNvPr>
          <p:cNvSpPr txBox="1">
            <a:spLocks/>
          </p:cNvSpPr>
          <p:nvPr/>
        </p:nvSpPr>
        <p:spPr>
          <a:xfrm>
            <a:off x="2216149" y="3711130"/>
            <a:ext cx="4800600" cy="545661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>
            <a:lvl1pPr>
              <a:defRPr sz="3300" b="1" i="0">
                <a:solidFill>
                  <a:srgbClr val="434343"/>
                </a:solidFill>
                <a:latin typeface="Trebuchet MS"/>
                <a:ea typeface="+mj-ea"/>
                <a:cs typeface="Trebuchet MS"/>
              </a:defRPr>
            </a:lvl1pPr>
          </a:lstStyle>
          <a:p>
            <a:pPr marL="12700">
              <a:spcBef>
                <a:spcPts val="114"/>
              </a:spcBef>
            </a:pPr>
            <a:r>
              <a:rPr lang="en-US" sz="3450" kern="0" spc="335" dirty="0">
                <a:solidFill>
                  <a:schemeClr val="tx1"/>
                </a:solidFill>
              </a:rPr>
              <a:t>OPIS PROJEKTA</a:t>
            </a:r>
            <a:endParaRPr lang="sr-Latn-BA" sz="3450" kern="0" dirty="0">
              <a:solidFill>
                <a:schemeClr val="tx1"/>
              </a:solidFill>
            </a:endParaRPr>
          </a:p>
        </p:txBody>
      </p:sp>
      <p:sp>
        <p:nvSpPr>
          <p:cNvPr id="15" name="object 5">
            <a:extLst>
              <a:ext uri="{FF2B5EF4-FFF2-40B4-BE49-F238E27FC236}">
                <a16:creationId xmlns:a16="http://schemas.microsoft.com/office/drawing/2014/main" id="{BE0DCF18-2559-74FA-A626-4E60C4BCB5FE}"/>
              </a:ext>
            </a:extLst>
          </p:cNvPr>
          <p:cNvSpPr txBox="1">
            <a:spLocks/>
          </p:cNvSpPr>
          <p:nvPr/>
        </p:nvSpPr>
        <p:spPr>
          <a:xfrm>
            <a:off x="2216149" y="5867620"/>
            <a:ext cx="4800600" cy="545661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>
            <a:lvl1pPr>
              <a:defRPr sz="3300" b="1" i="0">
                <a:solidFill>
                  <a:srgbClr val="434343"/>
                </a:solidFill>
                <a:latin typeface="Trebuchet MS"/>
                <a:ea typeface="+mj-ea"/>
                <a:cs typeface="Trebuchet MS"/>
              </a:defRPr>
            </a:lvl1pPr>
          </a:lstStyle>
          <a:p>
            <a:pPr marL="12700">
              <a:spcBef>
                <a:spcPts val="114"/>
              </a:spcBef>
            </a:pPr>
            <a:r>
              <a:rPr lang="sr-Latn-BA" sz="3450" kern="0" spc="335" dirty="0">
                <a:solidFill>
                  <a:schemeClr val="tx1"/>
                </a:solidFill>
              </a:rPr>
              <a:t>REŠENJE</a:t>
            </a:r>
            <a:endParaRPr lang="sr-Latn-BA" sz="3450" kern="0" dirty="0">
              <a:solidFill>
                <a:schemeClr val="tx1"/>
              </a:solidFill>
            </a:endParaRPr>
          </a:p>
        </p:txBody>
      </p:sp>
      <p:sp>
        <p:nvSpPr>
          <p:cNvPr id="16" name="object 5">
            <a:extLst>
              <a:ext uri="{FF2B5EF4-FFF2-40B4-BE49-F238E27FC236}">
                <a16:creationId xmlns:a16="http://schemas.microsoft.com/office/drawing/2014/main" id="{12EFFF10-C933-BDB7-211C-924B06288365}"/>
              </a:ext>
            </a:extLst>
          </p:cNvPr>
          <p:cNvSpPr txBox="1">
            <a:spLocks/>
          </p:cNvSpPr>
          <p:nvPr/>
        </p:nvSpPr>
        <p:spPr>
          <a:xfrm>
            <a:off x="2216148" y="8022479"/>
            <a:ext cx="5257802" cy="545661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>
            <a:lvl1pPr>
              <a:defRPr sz="3300" b="1" i="0">
                <a:solidFill>
                  <a:srgbClr val="434343"/>
                </a:solidFill>
                <a:latin typeface="Trebuchet MS"/>
                <a:ea typeface="+mj-ea"/>
                <a:cs typeface="Trebuchet MS"/>
              </a:defRPr>
            </a:lvl1pPr>
          </a:lstStyle>
          <a:p>
            <a:pPr marL="12700">
              <a:spcBef>
                <a:spcPts val="114"/>
              </a:spcBef>
            </a:pPr>
            <a:r>
              <a:rPr lang="sr-Latn-BA" sz="3450" kern="0" spc="335" dirty="0">
                <a:solidFill>
                  <a:schemeClr val="bg1"/>
                </a:solidFill>
              </a:rPr>
              <a:t>ZAKLJUČAK</a:t>
            </a:r>
            <a:endParaRPr lang="sr-Latn-BA" sz="3450" kern="0" dirty="0">
              <a:solidFill>
                <a:schemeClr val="bg1"/>
              </a:solidFill>
            </a:endParaRPr>
          </a:p>
        </p:txBody>
      </p:sp>
      <p:pic>
        <p:nvPicPr>
          <p:cNvPr id="2" name="Picture 2" descr="Database storage ">
            <a:extLst>
              <a:ext uri="{FF2B5EF4-FFF2-40B4-BE49-F238E27FC236}">
                <a16:creationId xmlns:a16="http://schemas.microsoft.com/office/drawing/2014/main" id="{EEF2CB18-597C-1210-7ED3-509B2B28ED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93762" y="5343296"/>
            <a:ext cx="3485416" cy="34854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605431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3719937" y="9924998"/>
            <a:ext cx="4568190" cy="352425"/>
          </a:xfrm>
          <a:custGeom>
            <a:avLst/>
            <a:gdLst/>
            <a:ahLst/>
            <a:cxnLst/>
            <a:rect l="l" t="t" r="r" b="b"/>
            <a:pathLst>
              <a:path w="4568190" h="352425">
                <a:moveTo>
                  <a:pt x="0" y="352424"/>
                </a:moveTo>
                <a:lnTo>
                  <a:pt x="4567998" y="352424"/>
                </a:lnTo>
                <a:lnTo>
                  <a:pt x="4567998" y="0"/>
                </a:lnTo>
                <a:lnTo>
                  <a:pt x="0" y="0"/>
                </a:lnTo>
                <a:lnTo>
                  <a:pt x="0" y="352424"/>
                </a:lnTo>
                <a:close/>
              </a:path>
            </a:pathLst>
          </a:custGeom>
          <a:solidFill>
            <a:srgbClr val="DB756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3719937" y="0"/>
            <a:ext cx="4568190" cy="352425"/>
          </a:xfrm>
          <a:custGeom>
            <a:avLst/>
            <a:gdLst/>
            <a:ahLst/>
            <a:cxnLst/>
            <a:rect l="l" t="t" r="r" b="b"/>
            <a:pathLst>
              <a:path w="4568190" h="352425">
                <a:moveTo>
                  <a:pt x="0" y="352424"/>
                </a:moveTo>
                <a:lnTo>
                  <a:pt x="4567998" y="352424"/>
                </a:lnTo>
                <a:lnTo>
                  <a:pt x="4567998" y="0"/>
                </a:lnTo>
                <a:lnTo>
                  <a:pt x="0" y="0"/>
                </a:lnTo>
                <a:lnTo>
                  <a:pt x="0" y="352424"/>
                </a:lnTo>
                <a:close/>
              </a:path>
            </a:pathLst>
          </a:custGeom>
          <a:solidFill>
            <a:srgbClr val="DB756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C3972188-67DB-FE67-ED40-3BD4C33583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90775" y="1797050"/>
            <a:ext cx="14119149" cy="923330"/>
          </a:xfrm>
        </p:spPr>
        <p:txBody>
          <a:bodyPr/>
          <a:lstStyle/>
          <a:p>
            <a:r>
              <a:rPr lang="sr-Latn-BA" sz="6000" dirty="0"/>
              <a:t>ZAKLJUČAK</a:t>
            </a:r>
            <a:endParaRPr lang="en-US" sz="60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1B80BDB-F54C-5F79-64A1-2432951445F0}"/>
              </a:ext>
            </a:extLst>
          </p:cNvPr>
          <p:cNvSpPr txBox="1"/>
          <p:nvPr/>
        </p:nvSpPr>
        <p:spPr>
          <a:xfrm>
            <a:off x="2090775" y="3695976"/>
            <a:ext cx="11961586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 err="1">
                <a:latin typeface="Trebuchet MS" panose="020B0603020202020204" pitchFamily="34" charset="0"/>
              </a:rPr>
              <a:t>Predloženi</a:t>
            </a:r>
            <a:r>
              <a:rPr lang="en-US" sz="3600" dirty="0">
                <a:latin typeface="Trebuchet MS" panose="020B0603020202020204" pitchFamily="34" charset="0"/>
              </a:rPr>
              <a:t> </a:t>
            </a:r>
            <a:r>
              <a:rPr lang="en-US" sz="3600" dirty="0" err="1">
                <a:latin typeface="Trebuchet MS" panose="020B0603020202020204" pitchFamily="34" charset="0"/>
              </a:rPr>
              <a:t>projekat</a:t>
            </a:r>
            <a:r>
              <a:rPr lang="en-US" sz="3600" dirty="0">
                <a:latin typeface="Trebuchet MS" panose="020B0603020202020204" pitchFamily="34" charset="0"/>
              </a:rPr>
              <a:t> </a:t>
            </a:r>
            <a:r>
              <a:rPr lang="en-US" sz="3600" dirty="0" err="1">
                <a:latin typeface="Trebuchet MS" panose="020B0603020202020204" pitchFamily="34" charset="0"/>
              </a:rPr>
              <a:t>razvoja</a:t>
            </a:r>
            <a:r>
              <a:rPr lang="en-US" sz="3600" dirty="0">
                <a:latin typeface="Trebuchet MS" panose="020B0603020202020204" pitchFamily="34" charset="0"/>
              </a:rPr>
              <a:t> DSL-a za </a:t>
            </a:r>
            <a:r>
              <a:rPr lang="en-US" sz="3600" dirty="0" err="1">
                <a:latin typeface="Trebuchet MS" panose="020B0603020202020204" pitchFamily="34" charset="0"/>
              </a:rPr>
              <a:t>generisanje</a:t>
            </a:r>
            <a:r>
              <a:rPr lang="en-US" sz="3600" dirty="0">
                <a:latin typeface="Trebuchet MS" panose="020B0603020202020204" pitchFamily="34" charset="0"/>
              </a:rPr>
              <a:t> </a:t>
            </a:r>
            <a:r>
              <a:rPr lang="en-US" sz="3600" dirty="0" err="1">
                <a:latin typeface="Trebuchet MS" panose="020B0603020202020204" pitchFamily="34" charset="0"/>
              </a:rPr>
              <a:t>šema</a:t>
            </a:r>
            <a:r>
              <a:rPr lang="en-US" sz="3600" dirty="0">
                <a:latin typeface="Trebuchet MS" panose="020B0603020202020204" pitchFamily="34" charset="0"/>
              </a:rPr>
              <a:t> </a:t>
            </a:r>
            <a:r>
              <a:rPr lang="en-US" sz="3600" dirty="0" err="1">
                <a:latin typeface="Trebuchet MS" panose="020B0603020202020204" pitchFamily="34" charset="0"/>
              </a:rPr>
              <a:t>baza</a:t>
            </a:r>
            <a:r>
              <a:rPr lang="en-US" sz="3600" dirty="0">
                <a:latin typeface="Trebuchet MS" panose="020B0603020202020204" pitchFamily="34" charset="0"/>
              </a:rPr>
              <a:t> </a:t>
            </a:r>
            <a:r>
              <a:rPr lang="en-US" sz="3600" dirty="0" err="1">
                <a:latin typeface="Trebuchet MS" panose="020B0603020202020204" pitchFamily="34" charset="0"/>
              </a:rPr>
              <a:t>podataka</a:t>
            </a:r>
            <a:r>
              <a:rPr lang="en-US" sz="3600" dirty="0">
                <a:latin typeface="Trebuchet MS" panose="020B0603020202020204" pitchFamily="34" charset="0"/>
              </a:rPr>
              <a:t> </a:t>
            </a:r>
            <a:r>
              <a:rPr lang="en-US" sz="3600" dirty="0" err="1">
                <a:latin typeface="Trebuchet MS" panose="020B0603020202020204" pitchFamily="34" charset="0"/>
              </a:rPr>
              <a:t>ima</a:t>
            </a:r>
            <a:r>
              <a:rPr lang="en-US" sz="3600" dirty="0">
                <a:latin typeface="Trebuchet MS" panose="020B0603020202020204" pitchFamily="34" charset="0"/>
              </a:rPr>
              <a:t> za </a:t>
            </a:r>
            <a:r>
              <a:rPr lang="en-US" sz="3600" dirty="0" err="1">
                <a:latin typeface="Trebuchet MS" panose="020B0603020202020204" pitchFamily="34" charset="0"/>
              </a:rPr>
              <a:t>cilj</a:t>
            </a:r>
            <a:r>
              <a:rPr lang="en-US" sz="3600" dirty="0">
                <a:latin typeface="Trebuchet MS" panose="020B0603020202020204" pitchFamily="34" charset="0"/>
              </a:rPr>
              <a:t> da </a:t>
            </a:r>
            <a:r>
              <a:rPr lang="en-US" sz="3600" dirty="0" err="1">
                <a:latin typeface="Trebuchet MS" panose="020B0603020202020204" pitchFamily="34" charset="0"/>
              </a:rPr>
              <a:t>pojednostavi</a:t>
            </a:r>
            <a:r>
              <a:rPr lang="en-US" sz="3600" dirty="0">
                <a:latin typeface="Trebuchet MS" panose="020B0603020202020204" pitchFamily="34" charset="0"/>
              </a:rPr>
              <a:t> </a:t>
            </a:r>
            <a:r>
              <a:rPr lang="en-US" sz="3600" dirty="0" err="1">
                <a:latin typeface="Trebuchet MS" panose="020B0603020202020204" pitchFamily="34" charset="0"/>
              </a:rPr>
              <a:t>i</a:t>
            </a:r>
            <a:r>
              <a:rPr lang="en-US" sz="3600" dirty="0">
                <a:latin typeface="Trebuchet MS" panose="020B0603020202020204" pitchFamily="34" charset="0"/>
              </a:rPr>
              <a:t> </a:t>
            </a:r>
            <a:r>
              <a:rPr lang="en-US" sz="3600" dirty="0" err="1">
                <a:latin typeface="Trebuchet MS" panose="020B0603020202020204" pitchFamily="34" charset="0"/>
              </a:rPr>
              <a:t>ubrza</a:t>
            </a:r>
            <a:r>
              <a:rPr lang="en-US" sz="3600" dirty="0">
                <a:latin typeface="Trebuchet MS" panose="020B0603020202020204" pitchFamily="34" charset="0"/>
              </a:rPr>
              <a:t> </a:t>
            </a:r>
            <a:r>
              <a:rPr lang="en-US" sz="3600" dirty="0" err="1">
                <a:latin typeface="Trebuchet MS" panose="020B0603020202020204" pitchFamily="34" charset="0"/>
              </a:rPr>
              <a:t>proces</a:t>
            </a:r>
            <a:r>
              <a:rPr lang="en-US" sz="3600" dirty="0">
                <a:latin typeface="Trebuchet MS" panose="020B0603020202020204" pitchFamily="34" charset="0"/>
              </a:rPr>
              <a:t> </a:t>
            </a:r>
            <a:r>
              <a:rPr lang="en-US" sz="3600" dirty="0" err="1">
                <a:latin typeface="Trebuchet MS" panose="020B0603020202020204" pitchFamily="34" charset="0"/>
              </a:rPr>
              <a:t>dizajniranja</a:t>
            </a:r>
            <a:r>
              <a:rPr lang="en-US" sz="3600" dirty="0">
                <a:latin typeface="Trebuchet MS" panose="020B0603020202020204" pitchFamily="34" charset="0"/>
              </a:rPr>
              <a:t> </a:t>
            </a:r>
            <a:r>
              <a:rPr lang="en-US" sz="3600" dirty="0" err="1">
                <a:latin typeface="Trebuchet MS" panose="020B0603020202020204" pitchFamily="34" charset="0"/>
              </a:rPr>
              <a:t>baza</a:t>
            </a:r>
            <a:r>
              <a:rPr lang="en-US" sz="3600" dirty="0">
                <a:latin typeface="Trebuchet MS" panose="020B0603020202020204" pitchFamily="34" charset="0"/>
              </a:rPr>
              <a:t> </a:t>
            </a:r>
            <a:r>
              <a:rPr lang="en-US" sz="3600" dirty="0" err="1">
                <a:latin typeface="Trebuchet MS" panose="020B0603020202020204" pitchFamily="34" charset="0"/>
              </a:rPr>
              <a:t>podataka</a:t>
            </a:r>
            <a:r>
              <a:rPr lang="sr-Latn-BA" sz="3600" dirty="0">
                <a:latin typeface="Trebuchet MS" panose="020B0603020202020204" pitchFamily="34" charset="0"/>
              </a:rPr>
              <a:t>. O</a:t>
            </a:r>
            <a:r>
              <a:rPr lang="en-US" sz="3600" dirty="0" err="1">
                <a:latin typeface="Trebuchet MS" panose="020B0603020202020204" pitchFamily="34" charset="0"/>
              </a:rPr>
              <a:t>mogućava</a:t>
            </a:r>
            <a:r>
              <a:rPr lang="en-US" sz="3600" dirty="0">
                <a:latin typeface="Trebuchet MS" panose="020B0603020202020204" pitchFamily="34" charset="0"/>
              </a:rPr>
              <a:t> </a:t>
            </a:r>
            <a:r>
              <a:rPr lang="en-US" sz="3600" dirty="0" err="1">
                <a:latin typeface="Trebuchet MS" panose="020B0603020202020204" pitchFamily="34" charset="0"/>
              </a:rPr>
              <a:t>programerima</a:t>
            </a:r>
            <a:r>
              <a:rPr lang="en-US" sz="3600" dirty="0">
                <a:latin typeface="Trebuchet MS" panose="020B0603020202020204" pitchFamily="34" charset="0"/>
              </a:rPr>
              <a:t> </a:t>
            </a:r>
            <a:r>
              <a:rPr lang="en-US" sz="3600" dirty="0" err="1">
                <a:latin typeface="Trebuchet MS" panose="020B0603020202020204" pitchFamily="34" charset="0"/>
              </a:rPr>
              <a:t>i</a:t>
            </a:r>
            <a:r>
              <a:rPr lang="en-US" sz="3600" dirty="0">
                <a:latin typeface="Trebuchet MS" panose="020B0603020202020204" pitchFamily="34" charset="0"/>
              </a:rPr>
              <a:t> </a:t>
            </a:r>
            <a:r>
              <a:rPr lang="en-US" sz="3600" dirty="0" err="1">
                <a:latin typeface="Trebuchet MS" panose="020B0603020202020204" pitchFamily="34" charset="0"/>
              </a:rPr>
              <a:t>domenskim</a:t>
            </a:r>
            <a:r>
              <a:rPr lang="en-US" sz="3600" dirty="0">
                <a:latin typeface="Trebuchet MS" panose="020B0603020202020204" pitchFamily="34" charset="0"/>
              </a:rPr>
              <a:t> </a:t>
            </a:r>
            <a:r>
              <a:rPr lang="en-US" sz="3600" dirty="0" err="1">
                <a:latin typeface="Trebuchet MS" panose="020B0603020202020204" pitchFamily="34" charset="0"/>
              </a:rPr>
              <a:t>stručnjacima</a:t>
            </a:r>
            <a:r>
              <a:rPr lang="en-US" sz="3600" dirty="0">
                <a:latin typeface="Trebuchet MS" panose="020B0603020202020204" pitchFamily="34" charset="0"/>
              </a:rPr>
              <a:t> da se </a:t>
            </a:r>
            <a:r>
              <a:rPr lang="en-US" sz="3600" dirty="0" err="1">
                <a:latin typeface="Trebuchet MS" panose="020B0603020202020204" pitchFamily="34" charset="0"/>
              </a:rPr>
              <a:t>fokusiraju</a:t>
            </a:r>
            <a:r>
              <a:rPr lang="en-US" sz="3600" dirty="0">
                <a:latin typeface="Trebuchet MS" panose="020B0603020202020204" pitchFamily="34" charset="0"/>
              </a:rPr>
              <a:t> </a:t>
            </a:r>
            <a:r>
              <a:rPr lang="en-US" sz="3600" dirty="0" err="1">
                <a:latin typeface="Trebuchet MS" panose="020B0603020202020204" pitchFamily="34" charset="0"/>
              </a:rPr>
              <a:t>na</a:t>
            </a:r>
            <a:r>
              <a:rPr lang="en-US" sz="3600" dirty="0">
                <a:latin typeface="Trebuchet MS" panose="020B0603020202020204" pitchFamily="34" charset="0"/>
              </a:rPr>
              <a:t> </a:t>
            </a:r>
            <a:r>
              <a:rPr lang="en-US" sz="3600" dirty="0" err="1">
                <a:latin typeface="Trebuchet MS" panose="020B0603020202020204" pitchFamily="34" charset="0"/>
              </a:rPr>
              <a:t>ključne</a:t>
            </a:r>
            <a:r>
              <a:rPr lang="en-US" sz="3600" dirty="0">
                <a:latin typeface="Trebuchet MS" panose="020B0603020202020204" pitchFamily="34" charset="0"/>
              </a:rPr>
              <a:t> </a:t>
            </a:r>
            <a:r>
              <a:rPr lang="en-US" sz="3600" dirty="0" err="1">
                <a:latin typeface="Trebuchet MS" panose="020B0603020202020204" pitchFamily="34" charset="0"/>
              </a:rPr>
              <a:t>aspekte</a:t>
            </a:r>
            <a:r>
              <a:rPr lang="en-US" sz="3600" dirty="0">
                <a:latin typeface="Trebuchet MS" panose="020B0603020202020204" pitchFamily="34" charset="0"/>
              </a:rPr>
              <a:t> </a:t>
            </a:r>
            <a:r>
              <a:rPr lang="en-US" sz="3600" dirty="0" err="1">
                <a:latin typeface="Trebuchet MS" panose="020B0603020202020204" pitchFamily="34" charset="0"/>
              </a:rPr>
              <a:t>aplikacija</a:t>
            </a:r>
            <a:r>
              <a:rPr lang="en-US" sz="3600" dirty="0">
                <a:latin typeface="Trebuchet MS" panose="020B0603020202020204" pitchFamily="34" charset="0"/>
              </a:rPr>
              <a:t> </a:t>
            </a:r>
            <a:r>
              <a:rPr lang="en-US" sz="3600" dirty="0" err="1">
                <a:latin typeface="Trebuchet MS" panose="020B0603020202020204" pitchFamily="34" charset="0"/>
              </a:rPr>
              <a:t>umesto</a:t>
            </a:r>
            <a:r>
              <a:rPr lang="en-US" sz="3600" dirty="0">
                <a:latin typeface="Trebuchet MS" panose="020B0603020202020204" pitchFamily="34" charset="0"/>
              </a:rPr>
              <a:t> </a:t>
            </a:r>
            <a:r>
              <a:rPr lang="en-US" sz="3600" dirty="0" err="1">
                <a:latin typeface="Trebuchet MS" panose="020B0603020202020204" pitchFamily="34" charset="0"/>
              </a:rPr>
              <a:t>na</a:t>
            </a:r>
            <a:r>
              <a:rPr lang="en-US" sz="3600" dirty="0">
                <a:latin typeface="Trebuchet MS" panose="020B0603020202020204" pitchFamily="34" charset="0"/>
              </a:rPr>
              <a:t> </a:t>
            </a:r>
            <a:r>
              <a:rPr lang="en-US" sz="3600" dirty="0" err="1">
                <a:latin typeface="Trebuchet MS" panose="020B0603020202020204" pitchFamily="34" charset="0"/>
              </a:rPr>
              <a:t>tehničke</a:t>
            </a:r>
            <a:r>
              <a:rPr lang="en-US" sz="3600" dirty="0">
                <a:latin typeface="Trebuchet MS" panose="020B0603020202020204" pitchFamily="34" charset="0"/>
              </a:rPr>
              <a:t> </a:t>
            </a:r>
            <a:r>
              <a:rPr lang="en-US" sz="3600" dirty="0" err="1">
                <a:latin typeface="Trebuchet MS" panose="020B0603020202020204" pitchFamily="34" charset="0"/>
              </a:rPr>
              <a:t>detalje</a:t>
            </a:r>
            <a:r>
              <a:rPr lang="en-US" sz="3600" dirty="0">
                <a:latin typeface="Trebuchet MS" panose="020B0603020202020204" pitchFamily="34" charset="0"/>
              </a:rPr>
              <a:t> </a:t>
            </a:r>
            <a:r>
              <a:rPr lang="en-US" sz="3600" dirty="0" err="1">
                <a:latin typeface="Trebuchet MS" panose="020B0603020202020204" pitchFamily="34" charset="0"/>
              </a:rPr>
              <a:t>implementacije</a:t>
            </a:r>
            <a:r>
              <a:rPr lang="en-US" sz="3600" dirty="0">
                <a:latin typeface="Trebuchet MS" panose="020B0603020202020204" pitchFamily="34" charset="0"/>
              </a:rPr>
              <a:t>.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CAFD744-AEC6-6751-624A-F0A45D51EB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09056" y="5759450"/>
            <a:ext cx="3189952" cy="3189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933148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5001" y="0"/>
            <a:ext cx="18259425" cy="352425"/>
          </a:xfrm>
          <a:custGeom>
            <a:avLst/>
            <a:gdLst/>
            <a:ahLst/>
            <a:cxnLst/>
            <a:rect l="l" t="t" r="r" b="b"/>
            <a:pathLst>
              <a:path w="18259425" h="352425">
                <a:moveTo>
                  <a:pt x="18259425" y="0"/>
                </a:moveTo>
                <a:lnTo>
                  <a:pt x="0" y="0"/>
                </a:lnTo>
                <a:lnTo>
                  <a:pt x="0" y="352425"/>
                </a:lnTo>
                <a:lnTo>
                  <a:pt x="18259425" y="352425"/>
                </a:lnTo>
                <a:lnTo>
                  <a:pt x="18259425" y="0"/>
                </a:lnTo>
                <a:close/>
              </a:path>
            </a:pathLst>
          </a:custGeom>
          <a:solidFill>
            <a:srgbClr val="DB756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0" y="8852507"/>
            <a:ext cx="352425" cy="1435100"/>
          </a:xfrm>
          <a:custGeom>
            <a:avLst/>
            <a:gdLst/>
            <a:ahLst/>
            <a:cxnLst/>
            <a:rect l="l" t="t" r="r" b="b"/>
            <a:pathLst>
              <a:path w="352425" h="1435100">
                <a:moveTo>
                  <a:pt x="352424" y="0"/>
                </a:moveTo>
                <a:lnTo>
                  <a:pt x="0" y="0"/>
                </a:lnTo>
                <a:lnTo>
                  <a:pt x="0" y="1434490"/>
                </a:lnTo>
                <a:lnTo>
                  <a:pt x="352424" y="1434490"/>
                </a:lnTo>
                <a:lnTo>
                  <a:pt x="352424" y="0"/>
                </a:lnTo>
                <a:close/>
              </a:path>
            </a:pathLst>
          </a:custGeom>
          <a:solidFill>
            <a:srgbClr val="DB756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7940021" y="8852507"/>
            <a:ext cx="348615" cy="1435100"/>
          </a:xfrm>
          <a:custGeom>
            <a:avLst/>
            <a:gdLst/>
            <a:ahLst/>
            <a:cxnLst/>
            <a:rect l="l" t="t" r="r" b="b"/>
            <a:pathLst>
              <a:path w="348615" h="1435100">
                <a:moveTo>
                  <a:pt x="0" y="0"/>
                </a:moveTo>
                <a:lnTo>
                  <a:pt x="0" y="1434490"/>
                </a:lnTo>
                <a:lnTo>
                  <a:pt x="347998" y="1434490"/>
                </a:lnTo>
                <a:lnTo>
                  <a:pt x="347998" y="0"/>
                </a:lnTo>
                <a:lnTo>
                  <a:pt x="0" y="0"/>
                </a:lnTo>
                <a:close/>
              </a:path>
            </a:pathLst>
          </a:custGeom>
          <a:solidFill>
            <a:srgbClr val="DB756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7744190" y="4739482"/>
            <a:ext cx="2801046" cy="82073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sr-Latn-BA" sz="5250" spc="595" dirty="0">
                <a:solidFill>
                  <a:srgbClr val="B75442"/>
                </a:solidFill>
              </a:rPr>
              <a:t>HVALA!</a:t>
            </a:r>
            <a:endParaRPr sz="525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4C79FA3-AE51-9D58-2F31-8937CAB40519}"/>
              </a:ext>
            </a:extLst>
          </p:cNvPr>
          <p:cNvSpPr txBox="1"/>
          <p:nvPr/>
        </p:nvSpPr>
        <p:spPr>
          <a:xfrm>
            <a:off x="8478447" y="8859952"/>
            <a:ext cx="96012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r-Latn-BA" sz="2800" dirty="0">
                <a:latin typeface="Trebuchet MS" panose="020B0603020202020204" pitchFamily="34" charset="0"/>
              </a:rPr>
              <a:t>Anastasija Savić </a:t>
            </a:r>
            <a:r>
              <a:rPr lang="en-US" sz="2800" dirty="0">
                <a:latin typeface="Trebuchet MS" panose="020B0603020202020204" pitchFamily="34" charset="0"/>
              </a:rPr>
              <a:t>R2 26/2024</a:t>
            </a:r>
            <a:r>
              <a:rPr lang="sr-Latn-BA" sz="2800" dirty="0">
                <a:latin typeface="Trebuchet MS" panose="020B0603020202020204" pitchFamily="34" charset="0"/>
              </a:rPr>
              <a:t> – savic.r226.2024</a:t>
            </a:r>
            <a:r>
              <a:rPr lang="en-US" sz="2800" dirty="0">
                <a:latin typeface="Trebuchet MS" panose="020B0603020202020204" pitchFamily="34" charset="0"/>
              </a:rPr>
              <a:t>@uns.ac.rs</a:t>
            </a:r>
            <a:endParaRPr lang="sr-Latn-BA" sz="2800" dirty="0">
              <a:latin typeface="Trebuchet MS" panose="020B0603020202020204" pitchFamily="34" charset="0"/>
            </a:endParaRPr>
          </a:p>
          <a:p>
            <a:r>
              <a:rPr lang="sr-Latn-BA" sz="2800" dirty="0">
                <a:latin typeface="Trebuchet MS" panose="020B0603020202020204" pitchFamily="34" charset="0"/>
              </a:rPr>
              <a:t>Katarina Vučić </a:t>
            </a:r>
            <a:r>
              <a:rPr lang="en-US" sz="2800" dirty="0">
                <a:latin typeface="Trebuchet MS" panose="020B0603020202020204" pitchFamily="34" charset="0"/>
              </a:rPr>
              <a:t>R2 28/2024 – vucic.r228.2024@uns.ac.rs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B75442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1412</TotalTime>
  <Words>326</Words>
  <Application>Microsoft Office PowerPoint</Application>
  <PresentationFormat>Custom</PresentationFormat>
  <Paragraphs>52</Paragraphs>
  <Slides>16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Calibri</vt:lpstr>
      <vt:lpstr>Tahoma</vt:lpstr>
      <vt:lpstr>Trebuchet MS</vt:lpstr>
      <vt:lpstr>Office Theme</vt:lpstr>
      <vt:lpstr>PowerPoint Presentation</vt:lpstr>
      <vt:lpstr>MOTIVACIJA</vt:lpstr>
      <vt:lpstr>MOTIVACIJA</vt:lpstr>
      <vt:lpstr>MOTIVACIJA</vt:lpstr>
      <vt:lpstr>GLAVNI CILJ PROJEKTA</vt:lpstr>
      <vt:lpstr>SPECIFIČNI CILJEVI PROJEKTA</vt:lpstr>
      <vt:lpstr>MOGUĆNOSTI PROŠIRENJA</vt:lpstr>
      <vt:lpstr>MOTIVACIJA</vt:lpstr>
      <vt:lpstr>UPOTREBA SISTEMA</vt:lpstr>
      <vt:lpstr>ALATI ZA RAZVOJ</vt:lpstr>
      <vt:lpstr>PRIMJER – KLASNI DIJAGRAM</vt:lpstr>
      <vt:lpstr>PRIMJER – SQL ŠEMA 1/2</vt:lpstr>
      <vt:lpstr>PRIMJER – SQL ŠEMA 2/2</vt:lpstr>
      <vt:lpstr>MOTIVACIJA</vt:lpstr>
      <vt:lpstr>ZAKLJUČAK</vt:lpstr>
      <vt:lpstr>HVALA!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Katarina Vučić</dc:creator>
  <cp:lastModifiedBy>Anastasija Savic</cp:lastModifiedBy>
  <cp:revision>21</cp:revision>
  <dcterms:created xsi:type="dcterms:W3CDTF">2024-06-01T12:19:45Z</dcterms:created>
  <dcterms:modified xsi:type="dcterms:W3CDTF">2025-07-17T15:23:07Z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2024-06-01T00:00:00Z</vt:filetime>
  </property>
  <property fmtid="{D5CDD505-2E9C-101B-9397-08002B2CF9AE}" pid="3" name="Creator">
    <vt:lpwstr>Chromium</vt:lpwstr>
  </property>
  <property fmtid="{D5CDD505-2E9C-101B-9397-08002B2CF9AE}" pid="4" name="LastSaved">
    <vt:filetime>2024-06-01T00:00:00Z</vt:filetime>
  </property>
</Properties>
</file>