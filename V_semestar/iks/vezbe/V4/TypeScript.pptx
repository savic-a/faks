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343" r:id="rId4"/>
    <p:sldId id="344" r:id="rId5"/>
    <p:sldId id="318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11/21/2022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1117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8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3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623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1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56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19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7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0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80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11/21/2022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cs/typescript/typescript-compil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tutorialsteacher.com/typescript/typescript-module#:~:text=TypeScript%20provides%20modules%20and%20namespaces,not%20accessible%20outside%20the%20module.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C502BD-3766-4D83-94CC-391A4CD4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, background pattern&#10;&#10;Description automatically generated">
            <a:extLst>
              <a:ext uri="{FF2B5EF4-FFF2-40B4-BE49-F238E27FC236}">
                <a16:creationId xmlns:a16="http://schemas.microsoft.com/office/drawing/2014/main" id="{A8AA4BF6-E4AD-2B9E-673B-0AC2869F37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77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867CC89-052A-4B89-A1FF-972E522C6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E73AD-5D39-7FF2-CFED-B934C1AC6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651624"/>
            <a:ext cx="10668000" cy="177501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TypeScript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2DAAD-9C3E-EB83-0BE5-C8CBCB757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426635"/>
            <a:ext cx="10668000" cy="797860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chemeClr val="bg1"/>
                </a:solidFill>
              </a:rPr>
              <a:t>Osnove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701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29E83-EA38-7E74-8D15-CED8E65FD715}"/>
              </a:ext>
            </a:extLst>
          </p:cNvPr>
          <p:cNvSpPr txBox="1"/>
          <p:nvPr/>
        </p:nvSpPr>
        <p:spPr>
          <a:xfrm>
            <a:off x="1033796" y="1345104"/>
            <a:ext cx="101244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JavaScript – </a:t>
            </a:r>
            <a:r>
              <a:rPr lang="en-US" dirty="0" err="1">
                <a:latin typeface="Consolas" panose="020B0609020204030204" pitchFamily="49" charset="0"/>
              </a:rPr>
              <a:t>implementacija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EcmaScript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standarda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ES6 – </a:t>
            </a:r>
            <a:r>
              <a:rPr lang="en-US" dirty="0" err="1">
                <a:latin typeface="Consolas" panose="020B0609020204030204" pitchFamily="49" charset="0"/>
              </a:rPr>
              <a:t>veliki</a:t>
            </a:r>
            <a:r>
              <a:rPr lang="en-US" dirty="0">
                <a:latin typeface="Consolas" panose="020B0609020204030204" pitchFamily="49" charset="0"/>
              </a:rPr>
              <a:t> update</a:t>
            </a:r>
          </a:p>
          <a:p>
            <a:r>
              <a:rPr lang="en-US" dirty="0">
                <a:latin typeface="Consolas" panose="020B0609020204030204" pitchFamily="49" charset="0"/>
              </a:rPr>
              <a:t>ES2016/17/18…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 err="1">
                <a:latin typeface="Consolas" panose="020B0609020204030204" pitchFamily="49" charset="0"/>
              </a:rPr>
              <a:t>TypeScript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– JavaScript </a:t>
            </a:r>
            <a:r>
              <a:rPr lang="en-US" dirty="0" err="1">
                <a:latin typeface="Consolas" panose="020B0609020204030204" pitchFamily="49" charset="0"/>
              </a:rPr>
              <a:t>sa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sintaksom</a:t>
            </a:r>
            <a:r>
              <a:rPr lang="en-US" dirty="0">
                <a:latin typeface="Consolas" panose="020B0609020204030204" pitchFamily="49" charset="0"/>
              </a:rPr>
              <a:t> za </a:t>
            </a:r>
            <a:r>
              <a:rPr lang="en-US" dirty="0" err="1">
                <a:latin typeface="Consolas" panose="020B0609020204030204" pitchFamily="49" charset="0"/>
              </a:rPr>
              <a:t>tipove</a:t>
            </a:r>
            <a:r>
              <a:rPr lang="en-US" dirty="0">
                <a:latin typeface="Consolas" panose="020B0609020204030204" pitchFamily="49" charset="0"/>
              </a:rPr>
              <a:t> https://www.typescriptlang.org/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537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E127FD-FC8C-838B-6189-7CD99935B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TypeScript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14EAFB-47E5-CD48-2A89-CBDE515F739D}"/>
              </a:ext>
            </a:extLst>
          </p:cNvPr>
          <p:cNvSpPr txBox="1"/>
          <p:nvPr/>
        </p:nvSpPr>
        <p:spPr>
          <a:xfrm>
            <a:off x="1317770" y="1991980"/>
            <a:ext cx="101244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Open source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Odr</a:t>
            </a:r>
            <a:r>
              <a:rPr lang="sr-Latn-RS" sz="2400" dirty="0" err="1">
                <a:latin typeface="Consolas" panose="020B0609020204030204" pitchFamily="49" charset="0"/>
              </a:rPr>
              <a:t>žavan</a:t>
            </a:r>
            <a:r>
              <a:rPr lang="sr-Latn-RS" sz="2400" dirty="0">
                <a:latin typeface="Consolas" panose="020B0609020204030204" pitchFamily="49" charset="0"/>
              </a:rPr>
              <a:t> od strane </a:t>
            </a:r>
            <a:r>
              <a:rPr lang="en-US" sz="2400" dirty="0">
                <a:latin typeface="Consolas" panose="020B0609020204030204" pitchFamily="49" charset="0"/>
              </a:rPr>
              <a:t>Microsoft-a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Nadskup</a:t>
            </a:r>
            <a:r>
              <a:rPr lang="en-US" sz="2400" dirty="0">
                <a:latin typeface="Consolas" panose="020B0609020204030204" pitchFamily="49" charset="0"/>
              </a:rPr>
              <a:t> JS-a koji se </a:t>
            </a:r>
            <a:r>
              <a:rPr lang="en-US" sz="2400" dirty="0" err="1">
                <a:latin typeface="Consolas" panose="020B0609020204030204" pitchFamily="49" charset="0"/>
              </a:rPr>
              <a:t>prevodi</a:t>
            </a:r>
            <a:r>
              <a:rPr lang="en-US" sz="2400" dirty="0">
                <a:latin typeface="Consolas" panose="020B0609020204030204" pitchFamily="49" charset="0"/>
              </a:rPr>
              <a:t> u JS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Pi</a:t>
            </a:r>
            <a:r>
              <a:rPr lang="sr-Latn-RS" sz="2400" dirty="0">
                <a:latin typeface="Consolas" panose="020B0609020204030204" pitchFamily="49" charset="0"/>
              </a:rPr>
              <a:t>šemo sigurniji i </a:t>
            </a:r>
            <a:r>
              <a:rPr lang="sr-Latn-RS" sz="2400" dirty="0" err="1">
                <a:latin typeface="Consolas" panose="020B0609020204030204" pitchFamily="49" charset="0"/>
              </a:rPr>
              <a:t>bug</a:t>
            </a:r>
            <a:r>
              <a:rPr lang="en-US" sz="2400" dirty="0">
                <a:latin typeface="Consolas" panose="020B0609020204030204" pitchFamily="49" charset="0"/>
              </a:rPr>
              <a:t>-free </a:t>
            </a:r>
            <a:r>
              <a:rPr lang="en-US" sz="2400" dirty="0" err="1">
                <a:latin typeface="Consolas" panose="020B0609020204030204" pitchFamily="49" charset="0"/>
              </a:rPr>
              <a:t>kod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Tipovi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interfejsi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dekoratori</a:t>
            </a:r>
            <a:r>
              <a:rPr lang="en-US" sz="2400" dirty="0">
                <a:latin typeface="Consolas" panose="020B0609020204030204" pitchFamily="49" charset="0"/>
              </a:rPr>
              <a:t>, async/await </a:t>
            </a:r>
            <a:r>
              <a:rPr lang="en-US" sz="2400" dirty="0" err="1">
                <a:latin typeface="Consolas" panose="020B0609020204030204" pitchFamily="49" charset="0"/>
              </a:rPr>
              <a:t>itd</a:t>
            </a:r>
            <a:r>
              <a:rPr lang="en-US" sz="2400" dirty="0">
                <a:latin typeface="Consolas" panose="020B0609020204030204" pitchFamily="49" charset="0"/>
              </a:rPr>
              <a:t>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306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EAA6B5-5922-F5EC-F03F-F371429E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900" y="1368761"/>
            <a:ext cx="8246200" cy="471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55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8F9234-7C47-7921-7893-B82CE80B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Kako</a:t>
            </a:r>
            <a:r>
              <a:rPr lang="en-US" sz="2600" dirty="0"/>
              <a:t> da </a:t>
            </a:r>
            <a:r>
              <a:rPr lang="en-US" sz="2600" dirty="0" err="1"/>
              <a:t>pokrenem</a:t>
            </a:r>
            <a:r>
              <a:rPr lang="en-US" sz="2600" dirty="0"/>
              <a:t> TypeScript </a:t>
            </a:r>
            <a:r>
              <a:rPr lang="en-US" sz="2600" dirty="0" err="1"/>
              <a:t>kod</a:t>
            </a:r>
            <a:r>
              <a:rPr lang="en-US" sz="2600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DD2EF-EEEA-2EAA-E7CD-4187B2C153BD}"/>
              </a:ext>
            </a:extLst>
          </p:cNvPr>
          <p:cNvSpPr txBox="1"/>
          <p:nvPr/>
        </p:nvSpPr>
        <p:spPr>
          <a:xfrm>
            <a:off x="1517904" y="2224840"/>
            <a:ext cx="96805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Za </a:t>
            </a:r>
            <a:r>
              <a:rPr lang="en-US" dirty="0" err="1">
                <a:latin typeface="Consolas" panose="020B0609020204030204" pitchFamily="49" charset="0"/>
              </a:rPr>
              <a:t>razliku</a:t>
            </a:r>
            <a:r>
              <a:rPr lang="en-US" dirty="0">
                <a:latin typeface="Consolas" panose="020B0609020204030204" pitchFamily="49" charset="0"/>
              </a:rPr>
              <a:t> od JavaScript-a </a:t>
            </a:r>
            <a:r>
              <a:rPr lang="en-US" dirty="0" err="1">
                <a:latin typeface="Consolas" panose="020B0609020204030204" pitchFamily="49" charset="0"/>
              </a:rPr>
              <a:t>nije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nam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dovoljan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samo</a:t>
            </a:r>
            <a:r>
              <a:rPr lang="en-US" dirty="0">
                <a:latin typeface="Consolas" panose="020B0609020204030204" pitchFamily="49" charset="0"/>
              </a:rPr>
              <a:t> browser (JS Engine).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Tj</a:t>
            </a:r>
            <a:r>
              <a:rPr lang="en-US" dirty="0">
                <a:latin typeface="Consolas" panose="020B0609020204030204" pitchFamily="49" charset="0"/>
              </a:rPr>
              <a:t>. </a:t>
            </a:r>
            <a:r>
              <a:rPr lang="en-US" dirty="0" err="1">
                <a:latin typeface="Consolas" panose="020B0609020204030204" pitchFamily="49" charset="0"/>
              </a:rPr>
              <a:t>potrebno</a:t>
            </a:r>
            <a:r>
              <a:rPr lang="en-US" dirty="0">
                <a:latin typeface="Consolas" panose="020B0609020204030204" pitchFamily="49" charset="0"/>
              </a:rPr>
              <a:t> je </a:t>
            </a:r>
            <a:r>
              <a:rPr lang="sr-Latn-RS" dirty="0">
                <a:latin typeface="Consolas" panose="020B0609020204030204" pitchFamily="49" charset="0"/>
              </a:rPr>
              <a:t>uvesti </a:t>
            </a:r>
            <a:r>
              <a:rPr lang="sr-Latn-RS" dirty="0" err="1">
                <a:latin typeface="Consolas" panose="020B0609020204030204" pitchFamily="49" charset="0"/>
              </a:rPr>
              <a:t>transpajler</a:t>
            </a:r>
            <a:r>
              <a:rPr lang="sr-Latn-RS" dirty="0">
                <a:latin typeface="Consolas" panose="020B0609020204030204" pitchFamily="49" charset="0"/>
              </a:rPr>
              <a:t> (podsećanje iz vežbi 1) koji ima moć da prevede ES6, TS itd. u ES5 na primer.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sr-Latn-RS" dirty="0">
                <a:latin typeface="Consolas" panose="020B0609020204030204" pitchFamily="49" charset="0"/>
              </a:rPr>
              <a:t>Kako uvodimo </a:t>
            </a:r>
            <a:r>
              <a:rPr lang="sr-Latn-RS" dirty="0" err="1">
                <a:latin typeface="Consolas" panose="020B0609020204030204" pitchFamily="49" charset="0"/>
              </a:rPr>
              <a:t>transpajler</a:t>
            </a:r>
            <a:r>
              <a:rPr lang="en-US" dirty="0">
                <a:latin typeface="Consolas" panose="020B0609020204030204" pitchFamily="49" charset="0"/>
              </a:rPr>
              <a:t>? - </a:t>
            </a:r>
            <a:r>
              <a:rPr lang="en-US" dirty="0">
                <a:latin typeface="Consolas" panose="020B0609020204030204" pitchFamily="49" charset="0"/>
                <a:hlinkClick r:id="rId2"/>
              </a:rPr>
              <a:t>https://code.visualstudio.com/docs/typescript/typescript-compiling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(Pro</a:t>
            </a:r>
            <a:r>
              <a:rPr lang="sr-Latn-RS" dirty="0" err="1">
                <a:latin typeface="Consolas" panose="020B0609020204030204" pitchFamily="49" charset="0"/>
              </a:rPr>
              <a:t>ći</a:t>
            </a:r>
            <a:r>
              <a:rPr lang="sr-Latn-RS" dirty="0">
                <a:latin typeface="Consolas" panose="020B0609020204030204" pitchFamily="49" charset="0"/>
              </a:rPr>
              <a:t> kroz primere sa vežbi)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733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BE7C5E-820D-A35E-AEEF-68F664E5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Deklarisanje</a:t>
            </a:r>
            <a:r>
              <a:rPr lang="en-US" sz="2600" dirty="0"/>
              <a:t> </a:t>
            </a:r>
            <a:r>
              <a:rPr lang="en-US" sz="2600" dirty="0" err="1"/>
              <a:t>tipova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14F14-3F82-537F-AABF-79601C959BB3}"/>
              </a:ext>
            </a:extLst>
          </p:cNvPr>
          <p:cNvSpPr txBox="1"/>
          <p:nvPr/>
        </p:nvSpPr>
        <p:spPr>
          <a:xfrm>
            <a:off x="1317770" y="1991980"/>
            <a:ext cx="101244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let </a:t>
            </a:r>
            <a:r>
              <a:rPr lang="en-US" dirty="0" err="1">
                <a:latin typeface="Consolas" panose="020B0609020204030204" pitchFamily="49" charset="0"/>
              </a:rPr>
              <a:t>pera</a:t>
            </a:r>
            <a:r>
              <a:rPr lang="en-US" dirty="0">
                <a:latin typeface="Consolas" panose="020B0609020204030204" pitchFamily="49" charset="0"/>
              </a:rPr>
              <a:t>: string = “</a:t>
            </a:r>
            <a:r>
              <a:rPr lang="en-US" dirty="0" err="1">
                <a:latin typeface="Consolas" panose="020B0609020204030204" pitchFamily="49" charset="0"/>
              </a:rPr>
              <a:t>Pera</a:t>
            </a:r>
            <a:r>
              <a:rPr lang="en-US" dirty="0">
                <a:latin typeface="Consolas" panose="020B0609020204030204" pitchFamily="49" charset="0"/>
              </a:rPr>
              <a:t>”;</a:t>
            </a:r>
          </a:p>
          <a:p>
            <a:r>
              <a:rPr lang="en-US" dirty="0">
                <a:latin typeface="Consolas" panose="020B0609020204030204" pitchFamily="49" charset="0"/>
              </a:rPr>
              <a:t>const x: number = 5;</a:t>
            </a:r>
          </a:p>
          <a:p>
            <a:r>
              <a:rPr lang="en-US" dirty="0">
                <a:latin typeface="Consolas" panose="020B0609020204030204" pitchFamily="49" charset="0"/>
              </a:rPr>
              <a:t>let y: </a:t>
            </a:r>
            <a:r>
              <a:rPr lang="en-US" dirty="0" err="1">
                <a:latin typeface="Consolas" panose="020B0609020204030204" pitchFamily="49" charset="0"/>
              </a:rPr>
              <a:t>boolean</a:t>
            </a:r>
            <a:r>
              <a:rPr lang="en-US" dirty="0">
                <a:latin typeface="Consolas" panose="020B0609020204030204" pitchFamily="49" charset="0"/>
              </a:rPr>
              <a:t> = true;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Tipovi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Number,</a:t>
            </a:r>
          </a:p>
          <a:p>
            <a:r>
              <a:rPr lang="en-US" dirty="0">
                <a:latin typeface="Consolas" panose="020B0609020204030204" pitchFamily="49" charset="0"/>
              </a:rPr>
              <a:t>String,</a:t>
            </a:r>
          </a:p>
          <a:p>
            <a:r>
              <a:rPr lang="en-US" dirty="0">
                <a:latin typeface="Consolas" panose="020B0609020204030204" pitchFamily="49" charset="0"/>
              </a:rPr>
              <a:t>Boolean,</a:t>
            </a:r>
          </a:p>
          <a:p>
            <a:r>
              <a:rPr lang="en-US" dirty="0">
                <a:latin typeface="Consolas" panose="020B0609020204030204" pitchFamily="49" charset="0"/>
              </a:rPr>
              <a:t>Any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92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BC022E-E998-F2DF-F09A-CA3632C6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Enumeracija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11FF2-A678-AF09-D1B4-CC64382BF0EE}"/>
              </a:ext>
            </a:extLst>
          </p:cNvPr>
          <p:cNvSpPr txBox="1"/>
          <p:nvPr/>
        </p:nvSpPr>
        <p:spPr>
          <a:xfrm>
            <a:off x="1317770" y="1991980"/>
            <a:ext cx="10124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EyeColor</a:t>
            </a:r>
            <a:r>
              <a:rPr lang="en-US" dirty="0">
                <a:latin typeface="Consolas" panose="020B0609020204030204" pitchFamily="49" charset="0"/>
              </a:rPr>
              <a:t> {Brown, Black, Blue};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770D68-F371-C6CB-BDC2-F6B0ECC357C0}"/>
              </a:ext>
            </a:extLst>
          </p:cNvPr>
          <p:cNvSpPr txBox="1">
            <a:spLocks/>
          </p:cNvSpPr>
          <p:nvPr/>
        </p:nvSpPr>
        <p:spPr>
          <a:xfrm>
            <a:off x="1517904" y="2802606"/>
            <a:ext cx="9144000" cy="810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 err="1"/>
              <a:t>Nizovi</a:t>
            </a:r>
            <a:r>
              <a:rPr lang="en-US" sz="2600" dirty="0"/>
              <a:t> </a:t>
            </a:r>
            <a:r>
              <a:rPr lang="en-US" sz="2600" dirty="0" err="1"/>
              <a:t>i</a:t>
            </a:r>
            <a:r>
              <a:rPr lang="en-US" sz="2600" dirty="0"/>
              <a:t> </a:t>
            </a:r>
            <a:r>
              <a:rPr lang="en-US" sz="2600" dirty="0" err="1"/>
              <a:t>torke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F02F3-B781-0D49-1348-52B57A94863F}"/>
              </a:ext>
            </a:extLst>
          </p:cNvPr>
          <p:cNvSpPr txBox="1"/>
          <p:nvPr/>
        </p:nvSpPr>
        <p:spPr>
          <a:xfrm>
            <a:off x="1317770" y="3757359"/>
            <a:ext cx="101244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strArr</a:t>
            </a:r>
            <a:r>
              <a:rPr lang="en-US" dirty="0">
                <a:latin typeface="Consolas" panose="020B0609020204030204" pitchFamily="49" charset="0"/>
              </a:rPr>
              <a:t>: string[] = [‘Hello’, ‘world’];</a:t>
            </a:r>
          </a:p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strArr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</a:rPr>
              <a:t>Arra</a:t>
            </a:r>
            <a:r>
              <a:rPr lang="sr-Latn-RS" dirty="0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&lt;string&gt; = [‘Hello’, ‘world’];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anyArr</a:t>
            </a:r>
            <a:r>
              <a:rPr lang="en-US" dirty="0">
                <a:latin typeface="Consolas" panose="020B0609020204030204" pitchFamily="49" charset="0"/>
              </a:rPr>
              <a:t>: any[] = [‘Hello’, 10, true];</a:t>
            </a:r>
          </a:p>
          <a:p>
            <a:r>
              <a:rPr lang="en-US" dirty="0">
                <a:latin typeface="Consolas" panose="020B0609020204030204" pitchFamily="49" charset="0"/>
              </a:rPr>
              <a:t>let </a:t>
            </a:r>
            <a:r>
              <a:rPr lang="en-US" dirty="0" err="1">
                <a:latin typeface="Consolas" panose="020B0609020204030204" pitchFamily="49" charset="0"/>
              </a:rPr>
              <a:t>myTuple</a:t>
            </a:r>
            <a:r>
              <a:rPr lang="en-US" dirty="0">
                <a:latin typeface="Consolas" panose="020B0609020204030204" pitchFamily="49" charset="0"/>
              </a:rPr>
              <a:t>: [string, number] = [“Hi”, 10];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545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D920FD-30C7-EF91-B063-15186318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sr-Latn-RS" sz="2600" dirty="0"/>
              <a:t>Klase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7B2AA-D57A-E870-2433-D9163C24D93D}"/>
              </a:ext>
            </a:extLst>
          </p:cNvPr>
          <p:cNvSpPr txBox="1"/>
          <p:nvPr/>
        </p:nvSpPr>
        <p:spPr>
          <a:xfrm>
            <a:off x="1301442" y="1763380"/>
            <a:ext cx="1012440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Prvi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na</a:t>
            </a:r>
            <a:r>
              <a:rPr lang="sr-Latn-RS" dirty="0">
                <a:latin typeface="Consolas" panose="020B0609020204030204" pitchFamily="49" charset="0"/>
              </a:rPr>
              <a:t>čin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sr-Latn-RS" dirty="0" err="1">
                <a:latin typeface="Consolas" panose="020B0609020204030204" pitchFamily="49" charset="0"/>
              </a:rPr>
              <a:t>class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Person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	public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: string;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constructor(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: string) {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this.firstName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Drugi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na</a:t>
            </a:r>
            <a:r>
              <a:rPr lang="sr-Latn-RS" dirty="0">
                <a:latin typeface="Consolas" panose="020B0609020204030204" pitchFamily="49" charset="0"/>
              </a:rPr>
              <a:t>čin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class Person {</a:t>
            </a:r>
          </a:p>
          <a:p>
            <a:r>
              <a:rPr lang="en-US" dirty="0">
                <a:latin typeface="Consolas" panose="020B0609020204030204" pitchFamily="49" charset="0"/>
              </a:rPr>
              <a:t>	constructor(public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: string) {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this.firstName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693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66332B-D26A-8FF0-190F-365BCA475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 err="1"/>
              <a:t>Interfejsi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86CCD-5C19-13DF-F7CA-9C2343FFC83D}"/>
              </a:ext>
            </a:extLst>
          </p:cNvPr>
          <p:cNvSpPr txBox="1"/>
          <p:nvPr/>
        </p:nvSpPr>
        <p:spPr>
          <a:xfrm>
            <a:off x="1295999" y="1991980"/>
            <a:ext cx="101244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interface </a:t>
            </a:r>
            <a:r>
              <a:rPr lang="sr-Latn-RS" dirty="0" err="1">
                <a:latin typeface="Consolas" panose="020B0609020204030204" pitchFamily="49" charset="0"/>
              </a:rPr>
              <a:t>Person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fName</a:t>
            </a:r>
            <a:r>
              <a:rPr lang="en-US" dirty="0">
                <a:latin typeface="Consolas" panose="020B0609020204030204" pitchFamily="49" charset="0"/>
              </a:rPr>
              <a:t>: string;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lName</a:t>
            </a:r>
            <a:r>
              <a:rPr lang="en-US" dirty="0">
                <a:latin typeface="Consolas" panose="020B0609020204030204" pitchFamily="49" charset="0"/>
              </a:rPr>
              <a:t>: string;</a:t>
            </a:r>
          </a:p>
          <a:p>
            <a:r>
              <a:rPr lang="en-US" dirty="0">
                <a:latin typeface="Consolas" panose="020B0609020204030204" pitchFamily="49" charset="0"/>
              </a:rPr>
              <a:t>	age?: number;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let me: Person = {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fName</a:t>
            </a:r>
            <a:r>
              <a:rPr lang="en-US" dirty="0">
                <a:latin typeface="Consolas" panose="020B0609020204030204" pitchFamily="49" charset="0"/>
              </a:rPr>
              <a:t>: “</a:t>
            </a:r>
            <a:r>
              <a:rPr lang="en-US" dirty="0" err="1">
                <a:latin typeface="Consolas" panose="020B0609020204030204" pitchFamily="49" charset="0"/>
              </a:rPr>
              <a:t>Pera</a:t>
            </a:r>
            <a:r>
              <a:rPr lang="en-US" dirty="0">
                <a:latin typeface="Consolas" panose="020B0609020204030204" pitchFamily="49" charset="0"/>
              </a:rPr>
              <a:t>”;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lName</a:t>
            </a:r>
            <a:r>
              <a:rPr lang="en-US" dirty="0">
                <a:latin typeface="Consolas" panose="020B0609020204030204" pitchFamily="49" charset="0"/>
              </a:rPr>
              <a:t>: “</a:t>
            </a:r>
            <a:r>
              <a:rPr lang="en-US" dirty="0" err="1">
                <a:latin typeface="Consolas" panose="020B0609020204030204" pitchFamily="49" charset="0"/>
              </a:rPr>
              <a:t>Peric</a:t>
            </a:r>
            <a:r>
              <a:rPr lang="en-US" dirty="0">
                <a:latin typeface="Consolas" panose="020B0609020204030204" pitchFamily="49" charset="0"/>
              </a:rPr>
              <a:t>”;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28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0A6EC0-E234-E518-3B3C-A7512406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sr-Latn-RS" sz="2600" dirty="0"/>
              <a:t>Dekoratori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7C852-EB76-C6FD-62CF-876C12A06A2A}"/>
              </a:ext>
            </a:extLst>
          </p:cNvPr>
          <p:cNvSpPr txBox="1"/>
          <p:nvPr/>
        </p:nvSpPr>
        <p:spPr>
          <a:xfrm>
            <a:off x="1453243" y="1991980"/>
            <a:ext cx="86323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latin typeface="Consolas" panose="020B0609020204030204" pitchFamily="49" charset="0"/>
              </a:rPr>
              <a:t>Deklaracija koja se vezuje za deklaraciju klase, metode, svojstva ili parametra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latin typeface="Consolas" panose="020B0609020204030204" pitchFamily="49" charset="0"/>
              </a:rPr>
              <a:t>Dekorateri su oblika </a:t>
            </a:r>
            <a:r>
              <a:rPr lang="sr-Latn-RS" i="1" dirty="0">
                <a:latin typeface="Consolas" panose="020B0609020204030204" pitchFamily="49" charset="0"/>
              </a:rPr>
              <a:t>@izraz</a:t>
            </a:r>
            <a:r>
              <a:rPr lang="sr-Latn-RS" dirty="0">
                <a:latin typeface="Consolas" panose="020B0609020204030204" pitchFamily="49" charset="0"/>
              </a:rPr>
              <a:t>  pri čemu </a:t>
            </a:r>
            <a:r>
              <a:rPr lang="sr-Latn-RS" i="1" dirty="0">
                <a:latin typeface="Consolas" panose="020B0609020204030204" pitchFamily="49" charset="0"/>
              </a:rPr>
              <a:t>izraz </a:t>
            </a:r>
            <a:r>
              <a:rPr lang="sr-Latn-RS" dirty="0">
                <a:latin typeface="Consolas" panose="020B0609020204030204" pitchFamily="49" charset="0"/>
              </a:rPr>
              <a:t>treba da se evaluira u funkciju koja će se pozvati u </a:t>
            </a:r>
            <a:r>
              <a:rPr lang="sr-Latn-RS" dirty="0" err="1">
                <a:latin typeface="Consolas" panose="020B0609020204030204" pitchFamily="49" charset="0"/>
              </a:rPr>
              <a:t>runtimeu</a:t>
            </a:r>
            <a:endParaRPr lang="sr-Latn-R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9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8CD47A-979B-F923-C288-0E4D2D8AE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1169126"/>
            <a:ext cx="6450608" cy="493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62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B95B99-3DDC-C48D-644C-40928251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en-US" sz="2600" dirty="0"/>
              <a:t>Moduli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1855B-BFB0-7F9E-ED22-FFB1D35D8C8B}"/>
              </a:ext>
            </a:extLst>
          </p:cNvPr>
          <p:cNvSpPr txBox="1"/>
          <p:nvPr/>
        </p:nvSpPr>
        <p:spPr>
          <a:xfrm>
            <a:off x="1426028" y="1953880"/>
            <a:ext cx="86323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fajlovi</a:t>
            </a:r>
            <a:r>
              <a:rPr lang="en-US" dirty="0"/>
              <a:t> ne bi </a:t>
            </a:r>
            <a:r>
              <a:rPr lang="en-US" dirty="0" err="1"/>
              <a:t>bili</a:t>
            </a:r>
            <a:r>
              <a:rPr lang="en-US" dirty="0"/>
              <a:t> </a:t>
            </a:r>
            <a:r>
              <a:rPr lang="en-US" dirty="0" err="1"/>
              <a:t>dostupni</a:t>
            </a:r>
            <a:r>
              <a:rPr lang="en-US" dirty="0"/>
              <a:t> </a:t>
            </a:r>
            <a:r>
              <a:rPr lang="en-US" dirty="0" err="1"/>
              <a:t>jedni</a:t>
            </a:r>
            <a:r>
              <a:rPr lang="en-US" dirty="0"/>
              <a:t> </a:t>
            </a:r>
            <a:r>
              <a:rPr lang="en-US" dirty="0" err="1"/>
              <a:t>drugim</a:t>
            </a:r>
            <a:r>
              <a:rPr lang="en-US" dirty="0"/>
              <a:t> za </a:t>
            </a:r>
            <a:r>
              <a:rPr lang="sr-Latn-RS" dirty="0"/>
              <a:t>čitanje i izmenu ubačeni su moduli.</a:t>
            </a:r>
          </a:p>
          <a:p>
            <a:endParaRPr lang="sr-Latn-RS" dirty="0"/>
          </a:p>
          <a:p>
            <a:r>
              <a:rPr lang="sr-Latn-RS" dirty="0"/>
              <a:t>U okviru modula sve funkcije, klase, varijable itd. su dostupne samo u tom modulu.</a:t>
            </a:r>
            <a:endParaRPr lang="en-US" dirty="0"/>
          </a:p>
          <a:p>
            <a:endParaRPr lang="en-US" dirty="0"/>
          </a:p>
          <a:p>
            <a:r>
              <a:rPr lang="en-US" dirty="0"/>
              <a:t>Vi</a:t>
            </a:r>
            <a:r>
              <a:rPr lang="sr-Latn-RS" dirty="0" err="1"/>
              <a:t>še</a:t>
            </a:r>
            <a:r>
              <a:rPr lang="sr-Latn-RS" dirty="0"/>
              <a:t> o modulima </a:t>
            </a:r>
            <a:r>
              <a:rPr lang="en-US" dirty="0"/>
              <a:t>- </a:t>
            </a:r>
            <a:r>
              <a:rPr lang="en-US" dirty="0">
                <a:hlinkClick r:id="rId2"/>
              </a:rPr>
              <a:t>link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17170-0BAD-D61B-68D4-8A9794AED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6" y="4284935"/>
            <a:ext cx="5167350" cy="23431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5CAB52-8B87-3274-39EB-3904F8A87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435" y="6166136"/>
            <a:ext cx="5600741" cy="46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47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73A9-FAEF-9215-90A8-62EC42D27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995" y="2756916"/>
            <a:ext cx="4872010" cy="1344168"/>
          </a:xfrm>
        </p:spPr>
        <p:txBody>
          <a:bodyPr/>
          <a:lstStyle/>
          <a:p>
            <a:r>
              <a:rPr lang="sr-Latn-RS" dirty="0"/>
              <a:t>HVALA NA PAŽNJI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586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smaticVTI">
  <a:themeElements>
    <a:clrScheme name="AnalogousFromDarkSeedLeftStep">
      <a:dk1>
        <a:srgbClr val="000000"/>
      </a:dk1>
      <a:lt1>
        <a:srgbClr val="FFFFFF"/>
      </a:lt1>
      <a:dk2>
        <a:srgbClr val="1D2A34"/>
      </a:dk2>
      <a:lt2>
        <a:srgbClr val="E2E4E8"/>
      </a:lt2>
      <a:accent1>
        <a:srgbClr val="C29B28"/>
      </a:accent1>
      <a:accent2>
        <a:srgbClr val="CF581D"/>
      </a:accent2>
      <a:accent3>
        <a:srgbClr val="E12F3E"/>
      </a:accent3>
      <a:accent4>
        <a:srgbClr val="CF1D76"/>
      </a:accent4>
      <a:accent5>
        <a:srgbClr val="E12FD2"/>
      </a:accent5>
      <a:accent6>
        <a:srgbClr val="931DCF"/>
      </a:accent6>
      <a:hlink>
        <a:srgbClr val="BF3F9F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7521</TotalTime>
  <Words>411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Aharoni</vt:lpstr>
      <vt:lpstr>Arial</vt:lpstr>
      <vt:lpstr>Avenir Next LT Pro</vt:lpstr>
      <vt:lpstr>Consolas</vt:lpstr>
      <vt:lpstr>PrismaticVTI</vt:lpstr>
      <vt:lpstr>TypeScript</vt:lpstr>
      <vt:lpstr>PowerPoint Presentation</vt:lpstr>
      <vt:lpstr>TypeScript</vt:lpstr>
      <vt:lpstr>PowerPoint Presentation</vt:lpstr>
      <vt:lpstr>Kako da pokrenem TypeScript kod?</vt:lpstr>
      <vt:lpstr>Deklarisanje tipova</vt:lpstr>
      <vt:lpstr>Enumeracija</vt:lpstr>
      <vt:lpstr>Klase</vt:lpstr>
      <vt:lpstr>Interfejsi</vt:lpstr>
      <vt:lpstr>Dekoratori</vt:lpstr>
      <vt:lpstr>PowerPoint Presentation</vt:lpstr>
      <vt:lpstr>Moduli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Luka Doric</dc:creator>
  <cp:lastModifiedBy>Luka Doric</cp:lastModifiedBy>
  <cp:revision>142</cp:revision>
  <dcterms:created xsi:type="dcterms:W3CDTF">2022-08-08T12:25:14Z</dcterms:created>
  <dcterms:modified xsi:type="dcterms:W3CDTF">2022-11-21T18:23:41Z</dcterms:modified>
</cp:coreProperties>
</file>