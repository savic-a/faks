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42" r:id="rId3"/>
    <p:sldId id="340" r:id="rId4"/>
    <p:sldId id="341" r:id="rId5"/>
    <p:sldId id="301" r:id="rId6"/>
    <p:sldId id="343" r:id="rId7"/>
    <p:sldId id="344" r:id="rId8"/>
    <p:sldId id="345" r:id="rId9"/>
    <p:sldId id="350" r:id="rId10"/>
    <p:sldId id="312" r:id="rId11"/>
    <p:sldId id="316" r:id="rId12"/>
    <p:sldId id="317" r:id="rId13"/>
    <p:sldId id="318" r:id="rId14"/>
    <p:sldId id="320" r:id="rId15"/>
    <p:sldId id="336" r:id="rId16"/>
    <p:sldId id="337" r:id="rId17"/>
    <p:sldId id="338" r:id="rId18"/>
    <p:sldId id="339" r:id="rId19"/>
    <p:sldId id="346" r:id="rId20"/>
    <p:sldId id="347" r:id="rId21"/>
    <p:sldId id="349" r:id="rId22"/>
    <p:sldId id="348" r:id="rId23"/>
  </p:sldIdLst>
  <p:sldSz cx="9144000" cy="6858000" type="screen4x3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1" d="100"/>
          <a:sy n="121" d="100"/>
        </p:scale>
        <p:origin x="131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sr-Latn-R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065EA-09F4-4AA0-9945-9C6DEE34299B}" type="datetimeFigureOut">
              <a:rPr lang="sr-Latn-RS" smtClean="0"/>
              <a:t>6.10.2022.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C3E0-3348-465A-A27F-E908C2786E8A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669736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065EA-09F4-4AA0-9945-9C6DEE34299B}" type="datetimeFigureOut">
              <a:rPr lang="sr-Latn-RS" smtClean="0"/>
              <a:t>6.10.2022.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TextBox 6"/>
          <p:cNvSpPr txBox="1"/>
          <p:nvPr userDrawn="1"/>
        </p:nvSpPr>
        <p:spPr>
          <a:xfrm>
            <a:off x="6732240" y="6309320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86C64A7-D548-48F5-A70D-A2E3522FCEF0}" type="slidenum">
              <a:rPr lang="sr-Latn-RS" smtClean="0"/>
              <a:pPr algn="r"/>
              <a:t>‹#›</a:t>
            </a:fld>
            <a:r>
              <a:rPr lang="sr-Latn-RS"/>
              <a:t>/22</a:t>
            </a:r>
          </a:p>
        </p:txBody>
      </p:sp>
    </p:spTree>
    <p:extLst>
      <p:ext uri="{BB962C8B-B14F-4D97-AF65-F5344CB8AC3E}">
        <p14:creationId xmlns:p14="http://schemas.microsoft.com/office/powerpoint/2010/main" val="2558682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065EA-09F4-4AA0-9945-9C6DEE34299B}" type="datetimeFigureOut">
              <a:rPr lang="sr-Latn-RS" smtClean="0"/>
              <a:t>6.10.2022.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C3E0-3348-465A-A27F-E908C2786E8A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962643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065EA-09F4-4AA0-9945-9C6DEE34299B}" type="datetimeFigureOut">
              <a:rPr lang="sr-Latn-RS" smtClean="0"/>
              <a:t>6.10.2022.</a:t>
            </a:fld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C3E0-3348-465A-A27F-E908C2786E8A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499192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065EA-09F4-4AA0-9945-9C6DEE34299B}" type="datetimeFigureOut">
              <a:rPr lang="sr-Latn-RS" smtClean="0"/>
              <a:t>6.10.2022.</a:t>
            </a:fld>
            <a:endParaRPr lang="sr-Latn-R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C3E0-3348-465A-A27F-E908C2786E8A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993557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065EA-09F4-4AA0-9945-9C6DEE34299B}" type="datetimeFigureOut">
              <a:rPr lang="sr-Latn-RS" smtClean="0"/>
              <a:t>6.10.2022.</a:t>
            </a:fld>
            <a:endParaRPr lang="sr-Latn-R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C3E0-3348-465A-A27F-E908C2786E8A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963377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065EA-09F4-4AA0-9945-9C6DEE34299B}" type="datetimeFigureOut">
              <a:rPr lang="sr-Latn-RS" smtClean="0"/>
              <a:t>6.10.2022.</a:t>
            </a:fld>
            <a:endParaRPr lang="sr-Latn-R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C3E0-3348-465A-A27F-E908C2786E8A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037299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065EA-09F4-4AA0-9945-9C6DEE34299B}" type="datetimeFigureOut">
              <a:rPr lang="sr-Latn-RS" smtClean="0"/>
              <a:t>6.10.2022.</a:t>
            </a:fld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C3E0-3348-465A-A27F-E908C2786E8A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615725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r-Latn-R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065EA-09F4-4AA0-9945-9C6DEE34299B}" type="datetimeFigureOut">
              <a:rPr lang="sr-Latn-RS" smtClean="0"/>
              <a:t>6.10.2022.</a:t>
            </a:fld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C3E0-3348-465A-A27F-E908C2786E8A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232443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065EA-09F4-4AA0-9945-9C6DEE34299B}" type="datetimeFigureOut">
              <a:rPr lang="sr-Latn-RS" smtClean="0"/>
              <a:t>6.10.2022.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C3E0-3348-465A-A27F-E908C2786E8A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902606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065EA-09F4-4AA0-9945-9C6DEE34299B}" type="datetimeFigureOut">
              <a:rPr lang="sr-Latn-RS" smtClean="0"/>
              <a:t>6.10.2022.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C3E0-3348-465A-A27F-E908C2786E8A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550064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5065EA-09F4-4AA0-9945-9C6DEE34299B}" type="datetimeFigureOut">
              <a:rPr lang="sr-Latn-RS" smtClean="0"/>
              <a:t>6.10.2022.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r-Latn-R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32C3E0-3348-465A-A27F-E908C2786E8A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611433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ana.org/assignments/jwt/jwt.xhtml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Latn-CS" altLang="sr-Latn-RS"/>
              <a:t>Inženjerstvo Serverskog Sloja</a:t>
            </a:r>
            <a:br>
              <a:rPr lang="sr-Latn-CS" altLang="sr-Latn-RS"/>
            </a:br>
            <a:r>
              <a:rPr lang="sr-Latn-CS" altLang="sr-Latn-RS" sz="2800"/>
              <a:t>prof. dr Milan Vidaković</a:t>
            </a:r>
            <a:endParaRPr lang="sr-Latn-R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r-Latn-RS"/>
              <a:t>Autentikacija i autorizacija</a:t>
            </a:r>
          </a:p>
        </p:txBody>
      </p:sp>
    </p:spTree>
    <p:extLst>
      <p:ext uri="{BB962C8B-B14F-4D97-AF65-F5344CB8AC3E}">
        <p14:creationId xmlns:p14="http://schemas.microsoft.com/office/powerpoint/2010/main" val="4091757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B3B32-7C88-DB9A-1422-40A0009DD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Šta su autentikacija i autorizacija?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BCA8A-CEF6-9287-DDEC-93900C18E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/>
              <a:t>Autentikacija prepoznaje korisnika</a:t>
            </a:r>
          </a:p>
          <a:p>
            <a:pPr lvl="1"/>
            <a:r>
              <a:rPr lang="sr-Latn-RS"/>
              <a:t>Obično na osnovu korisničkog imena i šifre</a:t>
            </a:r>
          </a:p>
          <a:p>
            <a:r>
              <a:rPr lang="sr-Latn-RS"/>
              <a:t>Autorizacija definiše ko od prijavljenih korisnika može da pozove koju metodu</a:t>
            </a:r>
          </a:p>
          <a:p>
            <a:pPr lvl="1"/>
            <a:r>
              <a:rPr lang="sr-Latn-RS"/>
              <a:t>Obično postoji više uloga u sistemu:</a:t>
            </a:r>
          </a:p>
          <a:p>
            <a:pPr lvl="2"/>
            <a:r>
              <a:rPr lang="sr-Latn-RS"/>
              <a:t>Korisnik, administrator, gost, itd.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537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4366B-1D3A-0929-7812-B3D6A376A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/>
              <a:t>Kako bismo sve to uradili bez Spring-a?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05889-A814-90F2-EE86-B6F78D930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r-Latn-RS"/>
              <a:t>Autentikacija</a:t>
            </a:r>
          </a:p>
          <a:p>
            <a:pPr lvl="1"/>
            <a:r>
              <a:rPr lang="sr-Latn-RS"/>
              <a:t>Parametri login forme stižu na kontroler</a:t>
            </a:r>
          </a:p>
          <a:p>
            <a:pPr lvl="1"/>
            <a:r>
              <a:rPr lang="sr-Latn-RS"/>
              <a:t>Kontroler poziva servis i prosleđuje username&amp;password</a:t>
            </a:r>
          </a:p>
          <a:p>
            <a:pPr lvl="1"/>
            <a:r>
              <a:rPr lang="sr-Latn-RS"/>
              <a:t>Servis koristi injektovani repozitorijum da proveri da li u bazi korisnika postoji korisnik sa zadatim username&amp;password</a:t>
            </a:r>
          </a:p>
          <a:p>
            <a:pPr lvl="1"/>
            <a:r>
              <a:rPr lang="sr-Latn-RS"/>
              <a:t>Ako postoji, generiše identifikator klijenta i šalje ga na frontend</a:t>
            </a:r>
          </a:p>
          <a:p>
            <a:pPr lvl="1"/>
            <a:r>
              <a:rPr lang="sr-Latn-RS"/>
              <a:t>Frontend svaki put šalje u sklopu HTTP zahteva taj identifikator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004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E6BEA-FD23-865E-4850-C1FF3932E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Kako bismo uradili bez Spring-a?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28F01-AA41-ABF7-CE32-4AE02AD63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/>
              <a:t>Autorizacija</a:t>
            </a:r>
          </a:p>
          <a:p>
            <a:pPr lvl="1"/>
            <a:r>
              <a:rPr lang="sr-Latn-RS"/>
              <a:t>Na početku svakog REST endpointa, iz HTTP zahteva, iz prosleđenog identifikatora se saznaje ko je korisnik</a:t>
            </a:r>
          </a:p>
          <a:p>
            <a:pPr lvl="1"/>
            <a:r>
              <a:rPr lang="sr-Latn-RS"/>
              <a:t>Pogleda se, recimo u bazi, da li identifikovani korisnik može da pozove taj konkretan kod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889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Spring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sr-Latn-RS"/>
              <a:t>Spring security pokriva autentikaciju i autorizaciju.</a:t>
            </a:r>
          </a:p>
          <a:p>
            <a:r>
              <a:rPr lang="sr-Latn-RS"/>
              <a:t>Autentikacija se može obaviti potpuno automatski</a:t>
            </a:r>
          </a:p>
          <a:p>
            <a:pPr lvl="1"/>
            <a:r>
              <a:rPr lang="sr-Latn-RS"/>
              <a:t>Spring može čak i da sam generiše login formu</a:t>
            </a:r>
          </a:p>
          <a:p>
            <a:pPr lvl="1"/>
            <a:r>
              <a:rPr lang="sr-Latn-RS"/>
              <a:t>Spring automatski može da obavi autentikaciju</a:t>
            </a:r>
          </a:p>
          <a:p>
            <a:pPr lvl="2"/>
            <a:r>
              <a:rPr lang="sr-Latn-RS"/>
              <a:t>Autentikacija može da bude: inMemory, JDBC, Oauth, itd.</a:t>
            </a:r>
          </a:p>
          <a:p>
            <a:r>
              <a:rPr lang="sr-Latn-RS"/>
              <a:t>Autorizacija je automatski podržana definicijom uloga (ROLE).</a:t>
            </a:r>
          </a:p>
        </p:txBody>
      </p:sp>
    </p:spTree>
    <p:extLst>
      <p:ext uri="{BB962C8B-B14F-4D97-AF65-F5344CB8AC3E}">
        <p14:creationId xmlns:p14="http://schemas.microsoft.com/office/powerpoint/2010/main" val="4213996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5E019-6275-453A-FF67-9FB1764E3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Realizacija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3958B-1808-4132-8631-518DC9DF1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sr-Latn-RS"/>
              <a:t>Može se realizovati na puno načina</a:t>
            </a:r>
          </a:p>
          <a:p>
            <a:r>
              <a:rPr lang="sr-Latn-RS"/>
              <a:t>Odabraćemo jednostavniji način</a:t>
            </a:r>
          </a:p>
          <a:p>
            <a:r>
              <a:rPr lang="sr-Latn-RS"/>
              <a:t>U frontendu, iz forme za login pozivamo REST endpoint i prosleđujemo username&amp;password</a:t>
            </a:r>
          </a:p>
          <a:p>
            <a:r>
              <a:rPr lang="sr-Latn-RS"/>
              <a:t>Iz REST endpointa pozivamo Spring-ov </a:t>
            </a:r>
            <a:r>
              <a:rPr lang="sr-Latn-RS" i="1"/>
              <a:t>AuthenticationManager</a:t>
            </a:r>
            <a:r>
              <a:rPr lang="sr-Latn-RS"/>
              <a:t> da uradi autentikaciju</a:t>
            </a:r>
          </a:p>
          <a:p>
            <a:pPr lvl="1"/>
            <a:r>
              <a:rPr lang="sr-Latn-RS"/>
              <a:t>Prosleđujemo mu username&amp;password</a:t>
            </a:r>
          </a:p>
          <a:p>
            <a:r>
              <a:rPr lang="sr-Latn-RS"/>
              <a:t>Spring-ov </a:t>
            </a:r>
            <a:r>
              <a:rPr lang="sr-Latn-RS" i="1"/>
              <a:t>AuthenticationManager</a:t>
            </a:r>
            <a:r>
              <a:rPr lang="sr-Latn-RS"/>
              <a:t> automatski traži </a:t>
            </a:r>
            <a:r>
              <a:rPr lang="sr-Latn-RS" i="1"/>
              <a:t>UserDetailService</a:t>
            </a:r>
            <a:r>
              <a:rPr lang="sr-Latn-RS"/>
              <a:t> servis, koji ima jednu jedinu metodu:</a:t>
            </a:r>
          </a:p>
          <a:p>
            <a:pPr marL="457200" lvl="1" indent="0">
              <a:buNone/>
            </a:pPr>
            <a:r>
              <a:rPr lang="en-US" sz="2600" b="1">
                <a:latin typeface="Courier New" panose="02070309020205020404" pitchFamily="49" charset="0"/>
                <a:cs typeface="Courier New" panose="02070309020205020404" pitchFamily="49" charset="0"/>
              </a:rPr>
              <a:t>public UserDetails loadUserByUsername(String username)</a:t>
            </a:r>
            <a:endParaRPr lang="sr-Latn-RS" sz="2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sr-Latn-RS"/>
              <a:t>Ova metoda vraća podatke o korisniku iz baze (username, password i ulogu), na osnovu korisničkog imena (ne i šifre!) u obliku objekta </a:t>
            </a:r>
            <a:r>
              <a:rPr lang="sr-Latn-RS" i="1"/>
              <a:t>UserDetails</a:t>
            </a:r>
            <a:r>
              <a:rPr lang="sr-Latn-RS"/>
              <a:t> klase</a:t>
            </a:r>
          </a:p>
          <a:p>
            <a:pPr lvl="1"/>
            <a:r>
              <a:rPr lang="sr-Latn-RS" i="1"/>
              <a:t>AuthenticationManager</a:t>
            </a:r>
            <a:r>
              <a:rPr lang="sr-Latn-RS"/>
              <a:t> sada poredi </a:t>
            </a:r>
            <a:r>
              <a:rPr lang="sr-Latn-RS" i="1"/>
              <a:t>password</a:t>
            </a:r>
            <a:r>
              <a:rPr lang="sr-Latn-RS"/>
              <a:t> koji je stigao iz frontenda sa </a:t>
            </a:r>
            <a:r>
              <a:rPr lang="sr-Latn-RS" i="1"/>
              <a:t>passwordom</a:t>
            </a:r>
            <a:r>
              <a:rPr lang="sr-Latn-RS"/>
              <a:t> sadržanim unutar </a:t>
            </a:r>
            <a:r>
              <a:rPr lang="sr-Latn-RS" i="1"/>
              <a:t>UserDetails</a:t>
            </a:r>
            <a:r>
              <a:rPr lang="sr-Latn-RS"/>
              <a:t> klase</a:t>
            </a:r>
          </a:p>
          <a:p>
            <a:pPr lvl="1"/>
            <a:r>
              <a:rPr lang="sr-Latn-RS"/>
              <a:t>Ako je sve OK, </a:t>
            </a:r>
            <a:r>
              <a:rPr lang="sr-Latn-RS" i="1"/>
              <a:t>AuthenticationManager</a:t>
            </a:r>
            <a:r>
              <a:rPr lang="sr-Latn-RS"/>
              <a:t> vraće objekat klase </a:t>
            </a:r>
            <a:r>
              <a:rPr lang="sr-Latn-RS" i="1"/>
              <a:t>Authentication</a:t>
            </a:r>
            <a:r>
              <a:rPr lang="sr-Latn-RS"/>
              <a:t>, koji predstavlja uspešno prijavljenog korisnika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405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CBC60-5C6E-8B21-EEB8-3B486F163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LoginController.java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8B7D2-27DD-7FF3-3142-EBC1C702F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600200"/>
            <a:ext cx="8640960" cy="4637112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i="1">
                <a:latin typeface="Consolas" panose="020B0609020204030204" pitchFamily="49" charset="0"/>
              </a:rPr>
              <a:t>@Autowired</a:t>
            </a:r>
          </a:p>
          <a:p>
            <a:pPr marL="0" indent="0" algn="l">
              <a:buNone/>
            </a:pPr>
            <a:r>
              <a:rPr lang="en-US" sz="1800" i="1">
                <a:latin typeface="Consolas" panose="020B0609020204030204" pitchFamily="49" charset="0"/>
              </a:rPr>
              <a:t>private AuthenticationManager authenticationManager;</a:t>
            </a:r>
          </a:p>
          <a:p>
            <a:pPr marL="0" indent="0" algn="l">
              <a:buNone/>
            </a:pPr>
            <a:r>
              <a:rPr lang="en-US" sz="1800" i="1">
                <a:latin typeface="Consolas" panose="020B0609020204030204" pitchFamily="49" charset="0"/>
              </a:rPr>
              <a:t>@Autowired</a:t>
            </a:r>
          </a:p>
          <a:p>
            <a:pPr marL="0" indent="0" algn="l">
              <a:buNone/>
            </a:pPr>
            <a:r>
              <a:rPr lang="en-US" sz="1800" i="1">
                <a:latin typeface="Consolas" panose="020B0609020204030204" pitchFamily="49" charset="0"/>
              </a:rPr>
              <a:t>private JwtTokenUtil jwtTokenUtil;</a:t>
            </a:r>
            <a:endParaRPr lang="sr-Latn-RS" sz="1800" i="1">
              <a:latin typeface="Consolas" panose="020B0609020204030204" pitchFamily="49" charset="0"/>
            </a:endParaRPr>
          </a:p>
          <a:p>
            <a:pPr marL="0" indent="0" algn="l">
              <a:buNone/>
            </a:pPr>
            <a:endParaRPr lang="sr-Latn-RS" sz="1800" i="1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en-US" sz="1800" i="1">
                <a:latin typeface="Consolas" panose="020B0609020204030204" pitchFamily="49" charset="0"/>
              </a:rPr>
              <a:t>@PostMapping()</a:t>
            </a:r>
          </a:p>
          <a:p>
            <a:pPr marL="0" indent="0" algn="l">
              <a:buNone/>
            </a:pPr>
            <a:r>
              <a:rPr lang="en-US" sz="1800">
                <a:latin typeface="Consolas" panose="020B0609020204030204" pitchFamily="49" charset="0"/>
              </a:rPr>
              <a:t>public User login(</a:t>
            </a:r>
            <a:r>
              <a:rPr lang="en-US" sz="1800" i="1">
                <a:latin typeface="Consolas" panose="020B0609020204030204" pitchFamily="49" charset="0"/>
              </a:rPr>
              <a:t>@RequestBody User user) {</a:t>
            </a:r>
          </a:p>
          <a:p>
            <a:pPr marL="0" indent="0" algn="l">
              <a:buNone/>
            </a:pPr>
            <a:r>
              <a:rPr lang="sr-Latn-RS" sz="1800">
                <a:latin typeface="Consolas" panose="020B0609020204030204" pitchFamily="49" charset="0"/>
              </a:rPr>
              <a:t>  </a:t>
            </a:r>
            <a:r>
              <a:rPr lang="en-US" sz="1800">
                <a:latin typeface="Consolas" panose="020B0609020204030204" pitchFamily="49" charset="0"/>
              </a:rPr>
              <a:t>UsernamePasswordAuthenticationToken authReq = new </a:t>
            </a:r>
            <a:r>
              <a:rPr lang="sr-Latn-RS" sz="1800">
                <a:latin typeface="Consolas" panose="020B0609020204030204" pitchFamily="49" charset="0"/>
              </a:rPr>
              <a:t> </a:t>
            </a:r>
            <a:br>
              <a:rPr lang="sr-Latn-RS" sz="1800">
                <a:latin typeface="Consolas" panose="020B0609020204030204" pitchFamily="49" charset="0"/>
              </a:rPr>
            </a:br>
            <a:r>
              <a:rPr lang="sr-Latn-RS" sz="1800">
                <a:latin typeface="Consolas" panose="020B0609020204030204" pitchFamily="49" charset="0"/>
              </a:rPr>
              <a:t>      </a:t>
            </a:r>
            <a:r>
              <a:rPr lang="en-US" sz="1800">
                <a:latin typeface="Consolas" panose="020B0609020204030204" pitchFamily="49" charset="0"/>
              </a:rPr>
              <a:t>UsernamePasswordAuthenticationToken(user.getUsername(),</a:t>
            </a:r>
          </a:p>
          <a:p>
            <a:pPr marL="0" indent="0" algn="l">
              <a:buNone/>
            </a:pPr>
            <a:r>
              <a:rPr lang="sr-Latn-RS" sz="1800">
                <a:latin typeface="Consolas" panose="020B0609020204030204" pitchFamily="49" charset="0"/>
              </a:rPr>
              <a:t>  	</a:t>
            </a:r>
            <a:r>
              <a:rPr lang="en-US" sz="1800">
                <a:latin typeface="Consolas" panose="020B0609020204030204" pitchFamily="49" charset="0"/>
              </a:rPr>
              <a:t>user.getPassword());</a:t>
            </a:r>
          </a:p>
          <a:p>
            <a:pPr marL="0" indent="0" algn="l">
              <a:buNone/>
            </a:pPr>
            <a:r>
              <a:rPr lang="sr-Latn-RS" sz="1800">
                <a:latin typeface="Consolas" panose="020B0609020204030204" pitchFamily="49" charset="0"/>
              </a:rPr>
              <a:t>  </a:t>
            </a:r>
            <a:r>
              <a:rPr lang="en-US" sz="1800">
                <a:latin typeface="Consolas" panose="020B0609020204030204" pitchFamily="49" charset="0"/>
              </a:rPr>
              <a:t>Authentication auth = authenticationManager.authenticate(authReq);</a:t>
            </a:r>
          </a:p>
          <a:p>
            <a:pPr marL="0" indent="0" algn="l">
              <a:buNone/>
            </a:pPr>
            <a:endParaRPr lang="en-US" sz="180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sr-Latn-RS" sz="1800">
                <a:latin typeface="Consolas" panose="020B0609020204030204" pitchFamily="49" charset="0"/>
              </a:rPr>
              <a:t>  </a:t>
            </a:r>
            <a:r>
              <a:rPr lang="en-US" sz="1800">
                <a:latin typeface="Consolas" panose="020B0609020204030204" pitchFamily="49" charset="0"/>
              </a:rPr>
              <a:t>SecurityContext sc = SecurityContextHolder.</a:t>
            </a:r>
            <a:r>
              <a:rPr lang="en-US" sz="1800" i="1">
                <a:latin typeface="Consolas" panose="020B0609020204030204" pitchFamily="49" charset="0"/>
              </a:rPr>
              <a:t>getContext();</a:t>
            </a:r>
          </a:p>
          <a:p>
            <a:pPr marL="0" indent="0" algn="l">
              <a:buNone/>
            </a:pPr>
            <a:r>
              <a:rPr lang="sr-Latn-RS" sz="1800">
                <a:latin typeface="Consolas" panose="020B0609020204030204" pitchFamily="49" charset="0"/>
              </a:rPr>
              <a:t>  </a:t>
            </a:r>
            <a:r>
              <a:rPr lang="en-US" sz="1800">
                <a:latin typeface="Consolas" panose="020B0609020204030204" pitchFamily="49" charset="0"/>
              </a:rPr>
              <a:t>sc.setAuthentication(auth);</a:t>
            </a:r>
          </a:p>
          <a:p>
            <a:pPr marL="0" indent="0" algn="l">
              <a:buNone/>
            </a:pPr>
            <a:endParaRPr lang="en-US" sz="180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sr-Latn-RS" sz="1800">
                <a:latin typeface="Consolas" panose="020B0609020204030204" pitchFamily="49" charset="0"/>
              </a:rPr>
              <a:t>  </a:t>
            </a:r>
            <a:r>
              <a:rPr lang="en-US" sz="1800">
                <a:latin typeface="Consolas" panose="020B0609020204030204" pitchFamily="49" charset="0"/>
              </a:rPr>
              <a:t>String token = jwtTokenUtil.generateToken(user.getUsername());</a:t>
            </a:r>
          </a:p>
          <a:p>
            <a:pPr marL="0" indent="0" algn="l">
              <a:buNone/>
            </a:pPr>
            <a:r>
              <a:rPr lang="sr-Latn-RS" sz="1800">
                <a:latin typeface="Consolas" panose="020B0609020204030204" pitchFamily="49" charset="0"/>
              </a:rPr>
              <a:t>  </a:t>
            </a:r>
            <a:r>
              <a:rPr lang="en-US" sz="1800">
                <a:latin typeface="Consolas" panose="020B0609020204030204" pitchFamily="49" charset="0"/>
              </a:rPr>
              <a:t>user.setJwt(token);</a:t>
            </a:r>
          </a:p>
          <a:p>
            <a:pPr marL="0" indent="0" algn="l">
              <a:buNone/>
            </a:pPr>
            <a:endParaRPr lang="en-US" sz="180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sr-Latn-RS" sz="1800">
                <a:latin typeface="Consolas" panose="020B0609020204030204" pitchFamily="49" charset="0"/>
              </a:rPr>
              <a:t>  </a:t>
            </a:r>
            <a:r>
              <a:rPr lang="en-US" sz="1800">
                <a:latin typeface="Consolas" panose="020B0609020204030204" pitchFamily="49" charset="0"/>
              </a:rPr>
              <a:t>return user;</a:t>
            </a:r>
          </a:p>
          <a:p>
            <a:pPr marL="0" indent="0" algn="l">
              <a:buNone/>
            </a:pPr>
            <a:r>
              <a:rPr lang="en-US" sz="1800">
                <a:latin typeface="Consolas" panose="020B0609020204030204" pitchFamily="49" charset="0"/>
              </a:rPr>
              <a:t>}</a:t>
            </a:r>
            <a:endParaRPr lang="en-US"/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D9792756-DFF9-665A-97B6-8EA476A2D259}"/>
              </a:ext>
            </a:extLst>
          </p:cNvPr>
          <p:cNvSpPr/>
          <p:nvPr/>
        </p:nvSpPr>
        <p:spPr>
          <a:xfrm>
            <a:off x="6228184" y="1700808"/>
            <a:ext cx="2664296" cy="792088"/>
          </a:xfrm>
          <a:prstGeom prst="wedgeRoundRectCallout">
            <a:avLst>
              <a:gd name="adj1" fmla="val -30300"/>
              <a:gd name="adj2" fmla="val 22571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>
                <a:solidFill>
                  <a:schemeClr val="tx1"/>
                </a:solidFill>
              </a:rPr>
              <a:t>Ovde se automatski poziva </a:t>
            </a:r>
            <a:r>
              <a:rPr lang="sr-Latn-RS" i="1">
                <a:solidFill>
                  <a:schemeClr val="tx1"/>
                </a:solidFill>
              </a:rPr>
              <a:t>UserDetailsService</a:t>
            </a:r>
            <a:r>
              <a:rPr lang="sr-Latn-RS">
                <a:solidFill>
                  <a:schemeClr val="tx1"/>
                </a:solidFill>
              </a:rPr>
              <a:t> komponenta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37704AC1-2F80-0CEE-07F4-501DA59BC88C}"/>
              </a:ext>
            </a:extLst>
          </p:cNvPr>
          <p:cNvSpPr/>
          <p:nvPr/>
        </p:nvSpPr>
        <p:spPr>
          <a:xfrm>
            <a:off x="4139952" y="5625824"/>
            <a:ext cx="3672408" cy="792088"/>
          </a:xfrm>
          <a:prstGeom prst="wedgeRoundRectCallout">
            <a:avLst>
              <a:gd name="adj1" fmla="val -59612"/>
              <a:gd name="adj2" fmla="val -9443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1600">
                <a:solidFill>
                  <a:schemeClr val="tx1"/>
                </a:solidFill>
              </a:rPr>
              <a:t>Ako je stigao do ovde, onda je sve OK, pa generišemo JWT token i ugrađujemo ga u objekat koji vraćamo na frontend</a:t>
            </a:r>
            <a:endParaRPr lang="en-US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1198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23711-36CB-422E-5E83-B4616EE46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UserServiceImpl.java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D2E1A-9BAF-26D0-16B6-2A7239393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600200"/>
            <a:ext cx="8507288" cy="4709120"/>
          </a:xfrm>
        </p:spPr>
        <p:txBody>
          <a:bodyPr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i="1">
                <a:latin typeface="Consolas" panose="020B0609020204030204" pitchFamily="49" charset="0"/>
              </a:rPr>
              <a:t>@Service</a:t>
            </a:r>
          </a:p>
          <a:p>
            <a:pPr marL="0" indent="0" algn="l">
              <a:buNone/>
            </a:pPr>
            <a:r>
              <a:rPr lang="en-US" sz="1800">
                <a:latin typeface="Consolas" panose="020B0609020204030204" pitchFamily="49" charset="0"/>
              </a:rPr>
              <a:t>public class UserServiceImpl implements UserDetailsService {</a:t>
            </a:r>
          </a:p>
          <a:p>
            <a:pPr marL="0" indent="0" algn="l">
              <a:buNone/>
            </a:pPr>
            <a:r>
              <a:rPr lang="sr-Latn-RS" sz="1800" i="1">
                <a:latin typeface="Consolas" panose="020B0609020204030204" pitchFamily="49" charset="0"/>
              </a:rPr>
              <a:t>  </a:t>
            </a:r>
            <a:r>
              <a:rPr lang="en-US" sz="1800" i="1">
                <a:latin typeface="Consolas" panose="020B0609020204030204" pitchFamily="49" charset="0"/>
              </a:rPr>
              <a:t>@Autowired</a:t>
            </a:r>
          </a:p>
          <a:p>
            <a:pPr marL="0" indent="0" algn="l">
              <a:buNone/>
            </a:pPr>
            <a:r>
              <a:rPr lang="sr-Latn-RS" sz="1800">
                <a:latin typeface="Consolas" panose="020B0609020204030204" pitchFamily="49" charset="0"/>
              </a:rPr>
              <a:t>  </a:t>
            </a:r>
            <a:r>
              <a:rPr lang="en-US" sz="1800">
                <a:latin typeface="Consolas" panose="020B0609020204030204" pitchFamily="49" charset="0"/>
              </a:rPr>
              <a:t>UserRepository allUsers;</a:t>
            </a:r>
          </a:p>
          <a:p>
            <a:pPr marL="0" indent="0" algn="l">
              <a:buNone/>
            </a:pPr>
            <a:r>
              <a:rPr lang="sr-Latn-RS" sz="1800" i="1">
                <a:latin typeface="Consolas" panose="020B0609020204030204" pitchFamily="49" charset="0"/>
              </a:rPr>
              <a:t>  </a:t>
            </a:r>
            <a:r>
              <a:rPr lang="en-US" sz="1800" i="1">
                <a:latin typeface="Consolas" panose="020B0609020204030204" pitchFamily="49" charset="0"/>
              </a:rPr>
              <a:t>@Override</a:t>
            </a:r>
          </a:p>
          <a:p>
            <a:pPr marL="0" indent="0" algn="l">
              <a:buNone/>
            </a:pPr>
            <a:r>
              <a:rPr lang="sr-Latn-RS" sz="1800">
                <a:latin typeface="Consolas" panose="020B0609020204030204" pitchFamily="49" charset="0"/>
              </a:rPr>
              <a:t>  </a:t>
            </a:r>
            <a:r>
              <a:rPr lang="en-US" sz="1800">
                <a:latin typeface="Consolas" panose="020B0609020204030204" pitchFamily="49" charset="0"/>
              </a:rPr>
              <a:t>public UserDetails loadUserByUsername(String username) throws </a:t>
            </a:r>
            <a:br>
              <a:rPr lang="sr-Latn-RS" sz="1800">
                <a:latin typeface="Consolas" panose="020B0609020204030204" pitchFamily="49" charset="0"/>
              </a:rPr>
            </a:br>
            <a:r>
              <a:rPr lang="sr-Latn-RS" sz="1800">
                <a:latin typeface="Consolas" panose="020B0609020204030204" pitchFamily="49" charset="0"/>
              </a:rPr>
              <a:t>       </a:t>
            </a:r>
            <a:r>
              <a:rPr lang="en-US" sz="1800">
                <a:latin typeface="Consolas" panose="020B0609020204030204" pitchFamily="49" charset="0"/>
              </a:rPr>
              <a:t>UsernameNotFoundException {</a:t>
            </a:r>
          </a:p>
          <a:p>
            <a:pPr marL="0" indent="0" algn="l">
              <a:buNone/>
            </a:pPr>
            <a:r>
              <a:rPr lang="sr-Latn-RS" sz="1800">
                <a:latin typeface="Consolas" panose="020B0609020204030204" pitchFamily="49" charset="0"/>
              </a:rPr>
              <a:t>    </a:t>
            </a:r>
            <a:r>
              <a:rPr lang="en-US" sz="1800">
                <a:latin typeface="Consolas" panose="020B0609020204030204" pitchFamily="49" charset="0"/>
              </a:rPr>
              <a:t>Optional&lt;User&gt; ret = allUsers.findByUsername(username);</a:t>
            </a:r>
          </a:p>
          <a:p>
            <a:pPr marL="0" indent="0" algn="l">
              <a:buNone/>
            </a:pPr>
            <a:r>
              <a:rPr lang="sr-Latn-RS" sz="1800">
                <a:latin typeface="Consolas" panose="020B0609020204030204" pitchFamily="49" charset="0"/>
              </a:rPr>
              <a:t>    </a:t>
            </a:r>
            <a:r>
              <a:rPr lang="en-US" sz="1800">
                <a:latin typeface="Consolas" panose="020B0609020204030204" pitchFamily="49" charset="0"/>
              </a:rPr>
              <a:t>if (!ret.isEmpty() ) {</a:t>
            </a:r>
          </a:p>
          <a:p>
            <a:pPr marL="0" indent="0" algn="l">
              <a:buNone/>
            </a:pPr>
            <a:r>
              <a:rPr lang="sr-Latn-RS" sz="1800">
                <a:latin typeface="Consolas" panose="020B0609020204030204" pitchFamily="49" charset="0"/>
              </a:rPr>
              <a:t>      </a:t>
            </a:r>
            <a:r>
              <a:rPr lang="en-US" sz="1800">
                <a:latin typeface="Consolas" panose="020B0609020204030204" pitchFamily="49" charset="0"/>
              </a:rPr>
              <a:t>return org.springframework.security.core.userdetails.User</a:t>
            </a:r>
            <a:br>
              <a:rPr lang="sr-Latn-RS" sz="1800">
                <a:latin typeface="Consolas" panose="020B0609020204030204" pitchFamily="49" charset="0"/>
              </a:rPr>
            </a:br>
            <a:r>
              <a:rPr lang="sr-Latn-RS" sz="1800">
                <a:latin typeface="Consolas" panose="020B0609020204030204" pitchFamily="49" charset="0"/>
              </a:rPr>
              <a:t>	</a:t>
            </a:r>
            <a:r>
              <a:rPr lang="en-US" sz="1800">
                <a:latin typeface="Consolas" panose="020B0609020204030204" pitchFamily="49" charset="0"/>
              </a:rPr>
              <a:t>.</a:t>
            </a:r>
            <a:r>
              <a:rPr lang="en-US" sz="1800" i="1">
                <a:latin typeface="Consolas" panose="020B0609020204030204" pitchFamily="49" charset="0"/>
              </a:rPr>
              <a:t>withUsername(username)</a:t>
            </a:r>
            <a:endParaRPr lang="sr-Latn-RS" sz="1800" i="1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sr-Latn-RS" sz="1800" i="1">
                <a:latin typeface="Consolas" panose="020B0609020204030204" pitchFamily="49" charset="0"/>
              </a:rPr>
              <a:t>	</a:t>
            </a:r>
            <a:r>
              <a:rPr lang="en-US" sz="1800" i="1">
                <a:latin typeface="Consolas" panose="020B0609020204030204" pitchFamily="49" charset="0"/>
              </a:rPr>
              <a:t>.password(ret.get().getPassword())</a:t>
            </a:r>
            <a:endParaRPr lang="sr-Latn-RS" sz="1800" i="1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sr-Latn-RS" sz="1800" i="1">
                <a:latin typeface="Consolas" panose="020B0609020204030204" pitchFamily="49" charset="0"/>
              </a:rPr>
              <a:t>	</a:t>
            </a:r>
            <a:r>
              <a:rPr lang="en-US" sz="1800" i="1">
                <a:latin typeface="Consolas" panose="020B0609020204030204" pitchFamily="49" charset="0"/>
              </a:rPr>
              <a:t>.roles(ret.get().getRole().toString())</a:t>
            </a:r>
            <a:endParaRPr lang="sr-Latn-RS" sz="1800" i="1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sr-Latn-RS" sz="1800" i="1">
                <a:latin typeface="Consolas" panose="020B0609020204030204" pitchFamily="49" charset="0"/>
              </a:rPr>
              <a:t>	</a:t>
            </a:r>
            <a:r>
              <a:rPr lang="en-US" sz="1800" i="1">
                <a:latin typeface="Consolas" panose="020B0609020204030204" pitchFamily="49" charset="0"/>
              </a:rPr>
              <a:t>.build();</a:t>
            </a:r>
          </a:p>
          <a:p>
            <a:pPr marL="0" indent="0" algn="l">
              <a:buNone/>
            </a:pPr>
            <a:r>
              <a:rPr lang="sr-Latn-RS" sz="1800">
                <a:latin typeface="Consolas" panose="020B0609020204030204" pitchFamily="49" charset="0"/>
              </a:rPr>
              <a:t>    </a:t>
            </a:r>
            <a:r>
              <a:rPr lang="en-US" sz="1800">
                <a:latin typeface="Consolas" panose="020B0609020204030204" pitchFamily="49" charset="0"/>
              </a:rPr>
              <a:t>}</a:t>
            </a:r>
          </a:p>
          <a:p>
            <a:pPr marL="0" indent="0" algn="l">
              <a:buNone/>
            </a:pPr>
            <a:r>
              <a:rPr lang="sr-Latn-RS" sz="1800">
                <a:latin typeface="Consolas" panose="020B0609020204030204" pitchFamily="49" charset="0"/>
              </a:rPr>
              <a:t>    </a:t>
            </a:r>
            <a:r>
              <a:rPr lang="en-US" sz="1800">
                <a:latin typeface="Consolas" panose="020B0609020204030204" pitchFamily="49" charset="0"/>
              </a:rPr>
              <a:t>throw new UsernameNotFoundException("</a:t>
            </a:r>
            <a:r>
              <a:rPr lang="sr-Latn-RS" sz="1800">
                <a:latin typeface="Consolas" panose="020B0609020204030204" pitchFamily="49" charset="0"/>
              </a:rPr>
              <a:t>User n</a:t>
            </a:r>
            <a:r>
              <a:rPr lang="en-US" sz="1800">
                <a:latin typeface="Consolas" panose="020B0609020204030204" pitchFamily="49" charset="0"/>
              </a:rPr>
              <a:t>ot found with this username: " +</a:t>
            </a:r>
            <a:br>
              <a:rPr lang="sr-Latn-RS" sz="1800">
                <a:latin typeface="Consolas" panose="020B0609020204030204" pitchFamily="49" charset="0"/>
              </a:rPr>
            </a:br>
            <a:r>
              <a:rPr lang="sr-Latn-RS" sz="1800">
                <a:latin typeface="Consolas" panose="020B0609020204030204" pitchFamily="49" charset="0"/>
              </a:rPr>
              <a:t>       </a:t>
            </a:r>
            <a:r>
              <a:rPr lang="en-US" sz="1800">
                <a:latin typeface="Consolas" panose="020B0609020204030204" pitchFamily="49" charset="0"/>
              </a:rPr>
              <a:t> username);</a:t>
            </a:r>
          </a:p>
          <a:p>
            <a:pPr marL="0" indent="0" algn="l">
              <a:buNone/>
            </a:pPr>
            <a:r>
              <a:rPr lang="sr-Latn-RS" sz="1800">
                <a:latin typeface="Consolas" panose="020B0609020204030204" pitchFamily="49" charset="0"/>
              </a:rPr>
              <a:t>  </a:t>
            </a:r>
            <a:r>
              <a:rPr lang="en-US" sz="1800">
                <a:latin typeface="Consolas" panose="020B0609020204030204" pitchFamily="49" charset="0"/>
              </a:rPr>
              <a:t>}</a:t>
            </a:r>
          </a:p>
          <a:p>
            <a:pPr marL="0" indent="0" algn="l">
              <a:buNone/>
            </a:pPr>
            <a:r>
              <a:rPr lang="en-US" sz="1800">
                <a:latin typeface="Consolas" panose="020B0609020204030204" pitchFamily="49" charset="0"/>
              </a:rPr>
              <a:t>}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645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56BEC-5375-CEB0-350A-27F2A846D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UserRepository.java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E00E5-9BDE-0FC2-D33D-38ABF2C45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/>
          <a:lstStyle/>
          <a:p>
            <a:pPr marL="0" indent="0" algn="l">
              <a:buNone/>
            </a:pPr>
            <a:r>
              <a:rPr lang="en-US" sz="1800">
                <a:latin typeface="Consolas" panose="020B0609020204030204" pitchFamily="49" charset="0"/>
              </a:rPr>
              <a:t>public interface UserRepository extends JpaRepository&lt;User, Long&gt; {</a:t>
            </a:r>
          </a:p>
          <a:p>
            <a:pPr marL="0" indent="0" algn="l">
              <a:buNone/>
            </a:pPr>
            <a:r>
              <a:rPr lang="sr-Latn-RS" sz="1800">
                <a:latin typeface="Consolas" panose="020B0609020204030204" pitchFamily="49" charset="0"/>
              </a:rPr>
              <a:t>  </a:t>
            </a:r>
            <a:r>
              <a:rPr lang="en-US" sz="1800">
                <a:latin typeface="Consolas" panose="020B0609020204030204" pitchFamily="49" charset="0"/>
              </a:rPr>
              <a:t>public Optional&lt;User&gt; findByUsername(String username);</a:t>
            </a:r>
          </a:p>
          <a:p>
            <a:pPr marL="0" indent="0" algn="l">
              <a:buNone/>
            </a:pPr>
            <a:r>
              <a:rPr lang="en-US" sz="1800">
                <a:latin typeface="Consolas" panose="020B0609020204030204" pitchFamily="49" charset="0"/>
              </a:rPr>
              <a:t>}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899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Konfiguracija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168"/>
          </a:xfrm>
        </p:spPr>
        <p:txBody>
          <a:bodyPr>
            <a:noAutofit/>
          </a:bodyPr>
          <a:lstStyle/>
          <a:p>
            <a:r>
              <a:rPr lang="sr-Latn-RS" sz="2200"/>
              <a:t>Napišemo običnu klasu u kojoj će biti prijavljene sve potrebne komponente za autentikaciju i autorizaciju</a:t>
            </a:r>
          </a:p>
          <a:p>
            <a:pPr lvl="1"/>
            <a:r>
              <a:rPr lang="sr-Latn-RS" sz="1800"/>
              <a:t>Komponente su označene @Bean anotacijom</a:t>
            </a:r>
          </a:p>
          <a:p>
            <a:r>
              <a:rPr lang="sr-Latn-RS" sz="2200"/>
              <a:t>Prijavićemo sledeće komponente:</a:t>
            </a:r>
          </a:p>
          <a:p>
            <a:pPr lvl="1"/>
            <a:r>
              <a:rPr lang="sr-Latn-RS" sz="1800"/>
              <a:t>SecurityFilterChain – lanac procesiranja zahteva, uz autorizaciju</a:t>
            </a:r>
          </a:p>
          <a:p>
            <a:pPr lvl="2"/>
            <a:r>
              <a:rPr lang="sr-Latn-RS" sz="1400"/>
              <a:t>mesto definicije prava pristupa</a:t>
            </a:r>
          </a:p>
          <a:p>
            <a:pPr lvl="1"/>
            <a:r>
              <a:rPr lang="sr-Latn-RS" sz="1800"/>
              <a:t>AuthenticationManager – komponenta za autentikaciju</a:t>
            </a:r>
          </a:p>
          <a:p>
            <a:pPr lvl="2"/>
            <a:r>
              <a:rPr lang="sr-Latn-RS" sz="1400"/>
              <a:t>Proverava da li postoji korisnik sa zadatim korisničkim imenom i šifrom</a:t>
            </a:r>
          </a:p>
          <a:p>
            <a:pPr lvl="1"/>
            <a:r>
              <a:rPr lang="sr-Latn-RS" sz="1800"/>
              <a:t>Pasword encoder – za kodiranje/dekodiranje šifre</a:t>
            </a:r>
          </a:p>
          <a:p>
            <a:pPr lvl="2"/>
            <a:r>
              <a:rPr lang="sr-Latn-RS" sz="1400"/>
              <a:t>Šifra se u bazi ne čuva u obliku teksta, već obično u obliku hash-a</a:t>
            </a:r>
          </a:p>
        </p:txBody>
      </p:sp>
    </p:spTree>
    <p:extLst>
      <p:ext uri="{BB962C8B-B14F-4D97-AF65-F5344CB8AC3E}">
        <p14:creationId xmlns:p14="http://schemas.microsoft.com/office/powerpoint/2010/main" val="683313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Autorizacija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08504" cy="4525963"/>
          </a:xfrm>
        </p:spPr>
        <p:txBody>
          <a:bodyPr>
            <a:normAutofit fontScale="70000" lnSpcReduction="20000"/>
          </a:bodyPr>
          <a:lstStyle/>
          <a:p>
            <a:r>
              <a:rPr lang="sr-Latn-RS"/>
              <a:t>Lanac procesiranja zahteva služi da se podešavaju autorizaciona pravila.</a:t>
            </a:r>
          </a:p>
          <a:p>
            <a:r>
              <a:rPr lang="sr-Latn-RS"/>
              <a:t>Primer:</a:t>
            </a:r>
          </a:p>
          <a:p>
            <a:pPr marL="0" indent="0">
              <a:buNone/>
            </a:pPr>
            <a:r>
              <a:rPr lang="en-US" sz="2200" b="1">
                <a:latin typeface="Courier New" panose="02070309020205020404" pitchFamily="49" charset="0"/>
                <a:cs typeface="Courier New" panose="02070309020205020404" pitchFamily="49" charset="0"/>
              </a:rPr>
              <a:t>@Bean</a:t>
            </a:r>
          </a:p>
          <a:p>
            <a:pPr marL="0" indent="0">
              <a:buNone/>
            </a:pPr>
            <a:r>
              <a:rPr lang="en-US" sz="2200" b="1">
                <a:latin typeface="Courier New" panose="02070309020205020404" pitchFamily="49" charset="0"/>
                <a:cs typeface="Courier New" panose="02070309020205020404" pitchFamily="49" charset="0"/>
              </a:rPr>
              <a:t>public SecurityFilterChain filterChain(HttpSecurity http) throws Exception {</a:t>
            </a:r>
          </a:p>
          <a:p>
            <a:pPr marL="0" indent="0">
              <a:buNone/>
            </a:pPr>
            <a:r>
              <a:rPr 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200" b="1">
                <a:latin typeface="Courier New" panose="02070309020205020404" pitchFamily="49" charset="0"/>
                <a:cs typeface="Courier New" panose="02070309020205020404" pitchFamily="49" charset="0"/>
              </a:rPr>
              <a:t>http.csrf().disable().authorizeRequests()</a:t>
            </a:r>
          </a:p>
          <a:p>
            <a:pPr marL="0" indent="0">
              <a:buNone/>
            </a:pPr>
            <a:r>
              <a:rPr 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br>
              <a:rPr 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200" b="1">
                <a:latin typeface="Courier New" panose="02070309020205020404" pitchFamily="49" charset="0"/>
                <a:cs typeface="Courier New" panose="02070309020205020404" pitchFamily="49" charset="0"/>
              </a:rPr>
              <a:t>.antMatchers("/*").permitAll()</a:t>
            </a:r>
            <a:br>
              <a:rPr 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200" b="1">
                <a:latin typeface="Courier New" panose="02070309020205020404" pitchFamily="49" charset="0"/>
                <a:cs typeface="Courier New" panose="02070309020205020404" pitchFamily="49" charset="0"/>
              </a:rPr>
              <a:t>.antMatchers("/api/v2/login/*").permitAll()</a:t>
            </a:r>
            <a:r>
              <a:rPr 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200" b="1">
                <a:latin typeface="Courier New" panose="02070309020205020404" pitchFamily="49" charset="0"/>
                <a:cs typeface="Courier New" panose="02070309020205020404" pitchFamily="49" charset="0"/>
              </a:rPr>
              <a:t>.antMatchers("/api/v2/student/**").authenticated()</a:t>
            </a:r>
          </a:p>
          <a:p>
            <a:pPr marL="0" indent="0">
              <a:buNone/>
            </a:pPr>
            <a:r>
              <a:rPr 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200" b="1">
                <a:latin typeface="Courier New" panose="02070309020205020404" pitchFamily="49" charset="0"/>
                <a:cs typeface="Courier New" panose="02070309020205020404" pitchFamily="49" charset="0"/>
              </a:rPr>
              <a:t>.and()</a:t>
            </a:r>
            <a:br>
              <a:rPr 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200" b="1">
                <a:latin typeface="Courier New" panose="02070309020205020404" pitchFamily="49" charset="0"/>
                <a:cs typeface="Courier New" panose="02070309020205020404" pitchFamily="49" charset="0"/>
              </a:rPr>
              <a:t>.sessionManagement().sessionCreationPolicy(SessionCreationPolicy.STATELESS); </a:t>
            </a:r>
            <a:endParaRPr lang="sr-Latn-RS" sz="22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0" indent="0">
              <a:buNone/>
            </a:pPr>
            <a:r>
              <a:rPr 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200" b="1">
                <a:latin typeface="Courier New" panose="02070309020205020404" pitchFamily="49" charset="0"/>
                <a:cs typeface="Courier New" panose="02070309020205020404" pitchFamily="49" charset="0"/>
              </a:rPr>
              <a:t>http.addFilterBefore(jwtRequestFilter,</a:t>
            </a:r>
            <a:br>
              <a:rPr 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200" b="1">
                <a:latin typeface="Courier New" panose="02070309020205020404" pitchFamily="49" charset="0"/>
                <a:cs typeface="Courier New" panose="02070309020205020404" pitchFamily="49" charset="0"/>
              </a:rPr>
              <a:t> UsernamePasswordAuthenticationFilter.class); </a:t>
            </a:r>
            <a:endParaRPr lang="sr-Latn-RS" sz="22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200" b="1">
                <a:latin typeface="Courier New" panose="02070309020205020404" pitchFamily="49" charset="0"/>
                <a:cs typeface="Courier New" panose="02070309020205020404" pitchFamily="49" charset="0"/>
              </a:rPr>
              <a:t>return http.build();</a:t>
            </a:r>
          </a:p>
          <a:p>
            <a:pPr marL="0" indent="0">
              <a:buNone/>
            </a:pPr>
            <a:r>
              <a:rPr lang="en-US" sz="22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sr-Latn-RS" sz="22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900" b="1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sr-Latn-RS" sz="29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29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61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Autorizacija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sr-Latn-RS"/>
              <a:t>.authorizeRequests() – svi zahtevi moraju da budu autorizovani lancem pravila koji sledi</a:t>
            </a:r>
          </a:p>
          <a:p>
            <a:r>
              <a:rPr lang="sr-Latn-RS"/>
              <a:t>.antMatchers(</a:t>
            </a:r>
            <a:r>
              <a:rPr lang="sr-Latn-RS" i="1"/>
              <a:t>putanja</a:t>
            </a:r>
            <a:r>
              <a:rPr lang="sr-Latn-RS"/>
              <a:t>) – ako se putanja iz HTTP zahteva poklapa sa prosleđenom putanjom, primeni pravila koja slede</a:t>
            </a:r>
          </a:p>
          <a:p>
            <a:pPr lvl="1"/>
            <a:r>
              <a:rPr lang="sr-Latn-RS"/>
              <a:t>Putanje se slažu od najspecifičnije, ka najopštijoj</a:t>
            </a:r>
          </a:p>
          <a:p>
            <a:r>
              <a:rPr lang="en-US"/>
              <a:t>.permitAll()</a:t>
            </a:r>
            <a:r>
              <a:rPr lang="sr-Latn-RS"/>
              <a:t> – pravilo koje dozvoljava pristup svim zahtevima (ne moraju da budu autentikovani)</a:t>
            </a:r>
          </a:p>
          <a:p>
            <a:r>
              <a:rPr lang="en-US"/>
              <a:t>.access("hasRole('ROLE_USER') or hasRole('ROLE_ADMIN')")</a:t>
            </a:r>
            <a:r>
              <a:rPr lang="sr-Latn-RS"/>
              <a:t> – pravilo koje dozvoljava pristup samo autentikovanim korisnicima čija uloga je USER ili ADMIN</a:t>
            </a:r>
          </a:p>
          <a:p>
            <a:pPr lvl="1"/>
            <a:r>
              <a:rPr lang="sr-Latn-RS"/>
              <a:t>Ovo se elegantnije rešava posebnom anotacijom u REST endpointu: </a:t>
            </a:r>
            <a:r>
              <a:rPr lang="en-US" sz="2900" i="1">
                <a:latin typeface="Consolas" panose="020B0609020204030204" pitchFamily="49" charset="0"/>
              </a:rPr>
              <a:t>@PreAuthorize("hasRole('ADMIN')")</a:t>
            </a:r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602362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Autorizacija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600200"/>
            <a:ext cx="8640960" cy="4525963"/>
          </a:xfrm>
        </p:spPr>
        <p:txBody>
          <a:bodyPr>
            <a:noAutofit/>
          </a:bodyPr>
          <a:lstStyle/>
          <a:p>
            <a:r>
              <a:rPr lang="sr-Latn-RS" sz="2400"/>
              <a:t>.and() – konjukcija</a:t>
            </a:r>
          </a:p>
          <a:p>
            <a:r>
              <a:rPr lang="en-US" sz="2400"/>
              <a:t>.httpBasic()</a:t>
            </a:r>
            <a:r>
              <a:rPr lang="sr-Latn-RS" sz="2400"/>
              <a:t> – koristi basic autentikaciju (korisničko ime i šifra su Base64-enkodirani u zahtev)</a:t>
            </a:r>
          </a:p>
          <a:p>
            <a:r>
              <a:rPr lang="sr-Latn-RS" sz="2400"/>
              <a:t>.formLogin() – logovanje formom</a:t>
            </a:r>
          </a:p>
          <a:p>
            <a:pPr lvl="1"/>
            <a:r>
              <a:rPr lang="en-US" sz="2000"/>
              <a:t>.loginPage("/login")</a:t>
            </a:r>
            <a:r>
              <a:rPr lang="sr-Latn-RS" sz="2000"/>
              <a:t> – lokacija login stranice, ako želimo da napravimo custom login stranicu</a:t>
            </a:r>
          </a:p>
          <a:p>
            <a:r>
              <a:rPr lang="en-US" sz="2400"/>
              <a:t>.logout()</a:t>
            </a:r>
            <a:r>
              <a:rPr lang="sr-Latn-RS" sz="2400"/>
              <a:t> – počinjemo konfigurisanje procedure za odjavljivanje</a:t>
            </a:r>
          </a:p>
          <a:p>
            <a:pPr lvl="1"/>
            <a:r>
              <a:rPr lang="en-US" sz="2000"/>
              <a:t>.logoutUrl("/my/logout") </a:t>
            </a:r>
            <a:r>
              <a:rPr lang="sr-Latn-RS" sz="2000"/>
              <a:t>– URL koji aktivira odjavljivanje</a:t>
            </a:r>
          </a:p>
          <a:p>
            <a:pPr lvl="1"/>
            <a:r>
              <a:rPr lang="en-US" sz="2000"/>
              <a:t>.logoutSuccessUrl("/my/index")</a:t>
            </a:r>
            <a:r>
              <a:rPr lang="sr-Latn-RS" sz="2000"/>
              <a:t> – po završetku odjave, idi ovde</a:t>
            </a:r>
          </a:p>
          <a:p>
            <a:pPr lvl="1"/>
            <a:r>
              <a:rPr lang="en-US" sz="2000"/>
              <a:t>.invalidateHttpSession(true)</a:t>
            </a:r>
            <a:r>
              <a:rPr lang="sr-Latn-RS" sz="2000"/>
              <a:t> – brisanje svih objekata iz sesije</a:t>
            </a:r>
          </a:p>
          <a:p>
            <a:pPr lvl="1"/>
            <a:r>
              <a:rPr lang="en-US" sz="2000"/>
              <a:t>.deleteCookies(</a:t>
            </a:r>
            <a:r>
              <a:rPr lang="en-US" sz="2000" i="1"/>
              <a:t>cookieNamesToClear</a:t>
            </a:r>
            <a:r>
              <a:rPr lang="en-US" sz="2000"/>
              <a:t>)</a:t>
            </a:r>
            <a:r>
              <a:rPr lang="sr-Latn-RS" sz="2000"/>
              <a:t> – obriši i ove kukije prilikom odjave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1441942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Autorizacija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147248" cy="4525963"/>
          </a:xfrm>
        </p:spPr>
        <p:txBody>
          <a:bodyPr/>
          <a:lstStyle/>
          <a:p>
            <a:r>
              <a:rPr lang="sr-Latn-RS"/>
              <a:t>.csrf() – zaštita od Cross Site Request Forgery napada</a:t>
            </a:r>
          </a:p>
          <a:p>
            <a:pPr lvl="1"/>
            <a:r>
              <a:rPr lang="sr-Latn-RS"/>
              <a:t>.disable() – isključujemo ovu zaštitu jer koristimo JWT</a:t>
            </a:r>
          </a:p>
          <a:p>
            <a:r>
              <a:rPr lang="sr-Latn-RS"/>
              <a:t>Ako ovo ne isključimo, praviće ozbiljne probleme kod JWT-a</a:t>
            </a:r>
          </a:p>
          <a:p>
            <a:pPr lvl="1"/>
            <a:r>
              <a:rPr lang="sr-Latn-RS"/>
              <a:t>Radi dobro sa kukijima</a:t>
            </a:r>
          </a:p>
        </p:txBody>
      </p:sp>
    </p:spTree>
    <p:extLst>
      <p:ext uri="{BB962C8B-B14F-4D97-AF65-F5344CB8AC3E}">
        <p14:creationId xmlns:p14="http://schemas.microsoft.com/office/powerpoint/2010/main" val="4259899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Json Web Token - JWT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/>
              <a:t>Token koji se generiše prvi put na serveru, vraća klijentu i koji klijent šalje u zahtevu svaki put kada se obraća serveru.</a:t>
            </a:r>
          </a:p>
          <a:p>
            <a:r>
              <a:rPr lang="sr-Latn-RS"/>
              <a:t>Sastoji se iz Base64 enkodiranog JSON stringa:</a:t>
            </a:r>
          </a:p>
          <a:p>
            <a:pPr lvl="1"/>
            <a:r>
              <a:rPr lang="sr-Latn-RS"/>
              <a:t>Header,</a:t>
            </a:r>
          </a:p>
          <a:p>
            <a:pPr lvl="1"/>
            <a:r>
              <a:rPr lang="sr-Latn-RS"/>
              <a:t>Payload,</a:t>
            </a:r>
          </a:p>
          <a:p>
            <a:pPr lvl="1"/>
            <a:r>
              <a:rPr lang="sr-Latn-RS"/>
              <a:t>Signature.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513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JWT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/>
              <a:t>Hader:</a:t>
            </a:r>
          </a:p>
          <a:p>
            <a:pPr lvl="1"/>
            <a:r>
              <a:rPr lang="en-US"/>
              <a:t> "alg": "HS256",</a:t>
            </a:r>
          </a:p>
          <a:p>
            <a:pPr lvl="1"/>
            <a:r>
              <a:rPr lang="en-US"/>
              <a:t>  "typ": "JWT"</a:t>
            </a:r>
            <a:r>
              <a:rPr lang="sr-Latn-RS"/>
              <a:t>.</a:t>
            </a:r>
          </a:p>
          <a:p>
            <a:r>
              <a:rPr lang="sr-Latn-RS"/>
              <a:t>Payload:</a:t>
            </a:r>
          </a:p>
          <a:p>
            <a:pPr lvl="1"/>
            <a:r>
              <a:rPr lang="sr-Latn-RS"/>
              <a:t>Registered claims: </a:t>
            </a:r>
            <a:r>
              <a:rPr lang="en-US"/>
              <a:t> </a:t>
            </a:r>
            <a:r>
              <a:rPr lang="en-US" b="1"/>
              <a:t>iss</a:t>
            </a:r>
            <a:r>
              <a:rPr lang="en-US"/>
              <a:t> (issuer), </a:t>
            </a:r>
            <a:r>
              <a:rPr lang="en-US" b="1"/>
              <a:t>exp</a:t>
            </a:r>
            <a:r>
              <a:rPr lang="en-US"/>
              <a:t> (expiration time), </a:t>
            </a:r>
            <a:r>
              <a:rPr lang="en-US" b="1"/>
              <a:t>sub</a:t>
            </a:r>
            <a:r>
              <a:rPr lang="en-US"/>
              <a:t> (subject), </a:t>
            </a:r>
            <a:r>
              <a:rPr lang="en-US" b="1"/>
              <a:t>aud</a:t>
            </a:r>
            <a:r>
              <a:rPr lang="en-US"/>
              <a:t> (audience)</a:t>
            </a:r>
            <a:r>
              <a:rPr lang="sr-Latn-RS"/>
              <a:t>,...</a:t>
            </a:r>
          </a:p>
          <a:p>
            <a:pPr lvl="1"/>
            <a:r>
              <a:rPr lang="sr-Latn-RS"/>
              <a:t>Public claims: </a:t>
            </a:r>
            <a:r>
              <a:rPr lang="sr-Latn-RS">
                <a:hlinkClick r:id="rId2"/>
              </a:rPr>
              <a:t>JSON Web Token Registry</a:t>
            </a:r>
            <a:endParaRPr lang="sr-Latn-RS"/>
          </a:p>
          <a:p>
            <a:pPr lvl="1"/>
            <a:r>
              <a:rPr lang="sr-Latn-RS"/>
              <a:t>Private claims: kao što mu ime kaže...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947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JWT - Primer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sr-Latn-RS"/>
              <a:t>Tekst: </a:t>
            </a:r>
            <a:r>
              <a:rPr lang="sr-Latn-RS">
                <a:solidFill>
                  <a:srgbClr val="FF0000"/>
                </a:solidFill>
              </a:rPr>
              <a:t>eyJhbGciOiJIUzUxMiJ9</a:t>
            </a:r>
            <a:r>
              <a:rPr lang="sr-Latn-RS"/>
              <a:t>.eyJzdWIiOiJwZXJhIiwiZXhwIjoxNTc2MjQ0NjE5LCJpYXQiOjE1NzYyMjY2MTl9.</a:t>
            </a:r>
            <a:r>
              <a:rPr lang="sr-Latn-RS">
                <a:solidFill>
                  <a:srgbClr val="00B0F0"/>
                </a:solidFill>
              </a:rPr>
              <a:t>TeIklUDbh-oTp1nNlmSdTPpckwBb3jwZSfnFroJU3aYe-hEXsFwNknL0G7ztyT4Fq3il9RfBB_L2aNMtmW7ykw</a:t>
            </a:r>
          </a:p>
          <a:p>
            <a:r>
              <a:rPr lang="sr-Latn-RS"/>
              <a:t>Header:</a:t>
            </a:r>
          </a:p>
          <a:p>
            <a:pPr marL="457200" lvl="1" indent="0">
              <a:buNone/>
            </a:pPr>
            <a:r>
              <a:rPr lang="sr-Latn-RS"/>
              <a:t>{</a:t>
            </a:r>
          </a:p>
          <a:p>
            <a:pPr marL="457200" lvl="1" indent="0">
              <a:buNone/>
            </a:pPr>
            <a:r>
              <a:rPr lang="sr-Latn-RS"/>
              <a:t>  "alg": "HS512"</a:t>
            </a:r>
          </a:p>
          <a:p>
            <a:pPr marL="457200" lvl="1" indent="0">
              <a:buNone/>
            </a:pPr>
            <a:r>
              <a:rPr lang="sr-Latn-RS"/>
              <a:t>}</a:t>
            </a:r>
          </a:p>
          <a:p>
            <a:r>
              <a:rPr lang="sr-Latn-RS"/>
              <a:t>Payload:</a:t>
            </a:r>
          </a:p>
          <a:p>
            <a:pPr marL="457200" lvl="1" indent="0">
              <a:buNone/>
            </a:pPr>
            <a:r>
              <a:rPr lang="sr-Latn-RS"/>
              <a:t>{</a:t>
            </a:r>
          </a:p>
          <a:p>
            <a:pPr marL="457200" lvl="1" indent="0">
              <a:buNone/>
            </a:pPr>
            <a:r>
              <a:rPr lang="sr-Latn-RS"/>
              <a:t>  "sub": "pera",</a:t>
            </a:r>
          </a:p>
          <a:p>
            <a:pPr marL="457200" lvl="1" indent="0">
              <a:buNone/>
            </a:pPr>
            <a:r>
              <a:rPr lang="sr-Latn-RS"/>
              <a:t>  "exp": 1576244619,</a:t>
            </a:r>
          </a:p>
          <a:p>
            <a:pPr marL="457200" lvl="1" indent="0">
              <a:buNone/>
            </a:pPr>
            <a:r>
              <a:rPr lang="sr-Latn-RS"/>
              <a:t>  "iat": 1576226619</a:t>
            </a:r>
          </a:p>
          <a:p>
            <a:pPr marL="457200" lvl="1" indent="0">
              <a:buNone/>
            </a:pPr>
            <a:r>
              <a:rPr lang="sr-Latn-RS"/>
              <a:t>}</a:t>
            </a:r>
          </a:p>
          <a:p>
            <a:r>
              <a:rPr lang="sr-Latn-RS"/>
              <a:t>Signature:</a:t>
            </a:r>
          </a:p>
          <a:p>
            <a:pPr lvl="1"/>
            <a:r>
              <a:rPr lang="en-US"/>
              <a:t>HMACSHA512( base64UrlEncode(header) + "." + base64UrlEncode(payload), </a:t>
            </a:r>
            <a:r>
              <a:rPr lang="sr-Latn-RS"/>
              <a:t>base64UrlEncode("</a:t>
            </a:r>
            <a:r>
              <a:rPr lang="en-US"/>
              <a:t>korisnickoime</a:t>
            </a:r>
            <a:r>
              <a:rPr lang="sr-Latn-RS"/>
              <a:t>"</a:t>
            </a:r>
            <a:r>
              <a:rPr lang="en-US"/>
              <a:t>)</a:t>
            </a:r>
            <a:r>
              <a:rPr lang="sr-Latn-RS"/>
              <a:t>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1273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JWT - flow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/>
              <a:t>Prilikom prijave na sistem, ako su kredencijali OK, u HTTP odgovoru se šalje upravo izgenerisani JWT token.</a:t>
            </a:r>
          </a:p>
          <a:p>
            <a:r>
              <a:rPr lang="sr-Latn-RS"/>
              <a:t>Svaki naredni REST zahtev sadrži i JWT token</a:t>
            </a:r>
          </a:p>
          <a:p>
            <a:pPr lvl="1"/>
            <a:r>
              <a:rPr lang="sr-Latn-RS"/>
              <a:t>server proverava validnost tokena i identifikuje korisnika na osnovu tokena.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0560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1EF3E-2361-2E0F-6ADC-153C24CAE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Uključujemo JWT u autentikaciju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25A09-155A-7ADA-1A61-92114DB36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/>
              <a:t>Unutar filterChain metode definišemo da se procesiranje HTTP zahteva mora obaviti pre autentikacije</a:t>
            </a:r>
          </a:p>
          <a:p>
            <a:pPr lvl="1"/>
            <a:r>
              <a:rPr lang="sr-Latn-RS"/>
              <a:t>Tu ćemo potražiti JWT u okviru Authorization atrubuta HTTP zahteva </a:t>
            </a:r>
          </a:p>
          <a:p>
            <a:pPr lvl="1"/>
            <a:r>
              <a:rPr lang="sr-Latn-RS"/>
              <a:t>Ako ga nađemo i ako je validan, onda iz JWT tokena izvlačimo identitet korisnika i prijavljujemo ga u sistem na isti način kao kada smo uradili login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6931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57079-ED39-2A17-C32B-5113A3ABC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WebSecurityConfiguration</a:t>
            </a:r>
            <a:r>
              <a:rPr lang="sr-Latn-RS"/>
              <a:t>.java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CA9B4-0DC7-1682-123B-2656A009E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800" i="1">
                <a:latin typeface="Consolas" panose="020B0609020204030204" pitchFamily="49" charset="0"/>
              </a:rPr>
              <a:t>@Autowired</a:t>
            </a:r>
          </a:p>
          <a:p>
            <a:pPr marL="0" indent="0" algn="l">
              <a:buNone/>
            </a:pPr>
            <a:r>
              <a:rPr lang="en-US" sz="1800">
                <a:latin typeface="Consolas" panose="020B0609020204030204" pitchFamily="49" charset="0"/>
              </a:rPr>
              <a:t>private JwtRequestFilter jwtRequestFilter;</a:t>
            </a:r>
          </a:p>
          <a:p>
            <a:pPr marL="0" indent="0" algn="l">
              <a:buNone/>
            </a:pPr>
            <a:endParaRPr lang="en-US" sz="180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en-US" sz="1800" i="1">
                <a:latin typeface="Consolas" panose="020B0609020204030204" pitchFamily="49" charset="0"/>
              </a:rPr>
              <a:t>@Bean</a:t>
            </a:r>
          </a:p>
          <a:p>
            <a:pPr marL="0" indent="0" algn="l">
              <a:buNone/>
            </a:pPr>
            <a:r>
              <a:rPr lang="en-US" sz="1800">
                <a:latin typeface="Consolas" panose="020B0609020204030204" pitchFamily="49" charset="0"/>
              </a:rPr>
              <a:t>public SecurityFilterChain filterChain(HttpSecurity http) throws Exception {</a:t>
            </a:r>
            <a:endParaRPr lang="sr-Latn-RS" sz="180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sr-Latn-RS" sz="1800">
                <a:latin typeface="Consolas" panose="020B0609020204030204" pitchFamily="49" charset="0"/>
              </a:rPr>
              <a:t>  </a:t>
            </a:r>
            <a:r>
              <a:rPr lang="en-US" sz="1800">
                <a:latin typeface="Consolas" panose="020B0609020204030204" pitchFamily="49" charset="0"/>
              </a:rPr>
              <a:t>// csrf-&gt;disabled, pošto nam JWT odrađuje zaštitu od CSRF napada</a:t>
            </a:r>
          </a:p>
          <a:p>
            <a:pPr marL="0" indent="0" algn="l">
              <a:buNone/>
            </a:pPr>
            <a:r>
              <a:rPr lang="sr-Latn-RS" sz="1800">
                <a:latin typeface="Consolas" panose="020B0609020204030204" pitchFamily="49" charset="0"/>
              </a:rPr>
              <a:t>  </a:t>
            </a:r>
            <a:r>
              <a:rPr lang="en-US" sz="1800">
                <a:latin typeface="Consolas" panose="020B0609020204030204" pitchFamily="49" charset="0"/>
              </a:rPr>
              <a:t>http.csrf().disable().authorizeRequests()</a:t>
            </a:r>
            <a:endParaRPr lang="sr-Latn-RS" sz="180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sr-Latn-RS" sz="1800">
                <a:latin typeface="Consolas" panose="020B0609020204030204" pitchFamily="49" charset="0"/>
              </a:rPr>
              <a:t>    </a:t>
            </a:r>
            <a:r>
              <a:rPr lang="en-US" sz="1800">
                <a:latin typeface="Consolas" panose="020B0609020204030204" pitchFamily="49" charset="0"/>
              </a:rPr>
              <a:t>// statički html i login mogu svi da pozovu</a:t>
            </a:r>
          </a:p>
          <a:p>
            <a:pPr marL="0" indent="0" algn="l">
              <a:buNone/>
            </a:pPr>
            <a:r>
              <a:rPr lang="sr-Latn-RS" sz="1800">
                <a:latin typeface="Consolas" panose="020B0609020204030204" pitchFamily="49" charset="0"/>
              </a:rPr>
              <a:t>    </a:t>
            </a:r>
            <a:r>
              <a:rPr lang="en-US" sz="1800">
                <a:latin typeface="Consolas" panose="020B0609020204030204" pitchFamily="49" charset="0"/>
              </a:rPr>
              <a:t>.antMatchers("/*").permitAll().antMatchers("/api/v2/login/*").permitAll()</a:t>
            </a:r>
            <a:endParaRPr lang="sr-Latn-RS" sz="180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sr-Latn-RS" sz="1800">
                <a:latin typeface="Consolas" panose="020B0609020204030204" pitchFamily="49" charset="0"/>
              </a:rPr>
              <a:t>    </a:t>
            </a:r>
            <a:r>
              <a:rPr lang="en-US" sz="1800">
                <a:latin typeface="Consolas" panose="020B0609020204030204" pitchFamily="49" charset="0"/>
              </a:rPr>
              <a:t>// sav pristup API-ju mora da bude autentikovan</a:t>
            </a:r>
          </a:p>
          <a:p>
            <a:pPr marL="0" indent="0" algn="l">
              <a:buNone/>
            </a:pPr>
            <a:r>
              <a:rPr lang="sr-Latn-RS" sz="1800">
                <a:latin typeface="Consolas" panose="020B0609020204030204" pitchFamily="49" charset="0"/>
              </a:rPr>
              <a:t>    </a:t>
            </a:r>
            <a:r>
              <a:rPr lang="en-US" sz="1800">
                <a:latin typeface="Consolas" panose="020B0609020204030204" pitchFamily="49" charset="0"/>
              </a:rPr>
              <a:t>.antMatchers("/api/v2/student/**").authenticated()</a:t>
            </a:r>
          </a:p>
          <a:p>
            <a:pPr marL="0" indent="0" algn="l">
              <a:buNone/>
            </a:pPr>
            <a:r>
              <a:rPr lang="sr-Latn-RS" sz="1800">
                <a:latin typeface="Consolas" panose="020B0609020204030204" pitchFamily="49" charset="0"/>
              </a:rPr>
              <a:t>    </a:t>
            </a:r>
            <a:r>
              <a:rPr lang="en-US" sz="1800">
                <a:latin typeface="Consolas" panose="020B0609020204030204" pitchFamily="49" charset="0"/>
              </a:rPr>
              <a:t>.and()</a:t>
            </a:r>
            <a:endParaRPr lang="sr-Latn-RS" sz="180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sr-Latn-RS" sz="1800" i="1">
                <a:latin typeface="Consolas" panose="020B0609020204030204" pitchFamily="49" charset="0"/>
              </a:rPr>
              <a:t>    </a:t>
            </a:r>
            <a:r>
              <a:rPr lang="en-US" sz="1800" i="1">
                <a:latin typeface="Consolas" panose="020B0609020204030204" pitchFamily="49" charset="0"/>
              </a:rPr>
              <a:t>// ne koristimo HttpSession i kukije</a:t>
            </a:r>
            <a:endParaRPr lang="en-US" sz="180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sr-Latn-RS" sz="1800">
                <a:latin typeface="Consolas" panose="020B0609020204030204" pitchFamily="49" charset="0"/>
              </a:rPr>
              <a:t>    </a:t>
            </a:r>
            <a:r>
              <a:rPr lang="en-US" sz="1800">
                <a:latin typeface="Consolas" panose="020B0609020204030204" pitchFamily="49" charset="0"/>
              </a:rPr>
              <a:t>.sessionManagement().sessionCreationPolicy(</a:t>
            </a:r>
            <a:r>
              <a:rPr lang="en-US" sz="1800" i="1">
                <a:latin typeface="Consolas" panose="020B0609020204030204" pitchFamily="49" charset="0"/>
              </a:rPr>
              <a:t>SessionCreationPolicy.</a:t>
            </a:r>
            <a:r>
              <a:rPr lang="en-US" sz="1800" b="1" i="1">
                <a:latin typeface="Consolas" panose="020B0609020204030204" pitchFamily="49" charset="0"/>
              </a:rPr>
              <a:t>STATELESS); </a:t>
            </a:r>
          </a:p>
          <a:p>
            <a:pPr marL="0" indent="0" algn="l">
              <a:buNone/>
            </a:pPr>
            <a:r>
              <a:rPr lang="sr-Latn-RS" sz="1800" b="1">
                <a:latin typeface="Consolas" panose="020B0609020204030204" pitchFamily="49" charset="0"/>
              </a:rPr>
              <a:t>  </a:t>
            </a:r>
            <a:r>
              <a:rPr lang="en-US" sz="1800" b="1">
                <a:latin typeface="Consolas" panose="020B0609020204030204" pitchFamily="49" charset="0"/>
              </a:rPr>
              <a:t>// JWT procesiramo pre autentikacije</a:t>
            </a:r>
            <a:endParaRPr lang="sr-Latn-RS" sz="1800" b="1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sr-Latn-RS" sz="1800" b="1">
                <a:latin typeface="Consolas" panose="020B0609020204030204" pitchFamily="49" charset="0"/>
              </a:rPr>
              <a:t>  </a:t>
            </a:r>
            <a:r>
              <a:rPr lang="en-US" sz="1800" b="1">
                <a:latin typeface="Consolas" panose="020B0609020204030204" pitchFamily="49" charset="0"/>
              </a:rPr>
              <a:t>http.addFilterBefore(jwtRequestFilter,</a:t>
            </a:r>
            <a:br>
              <a:rPr lang="sr-Latn-RS" sz="1800" b="1">
                <a:latin typeface="Consolas" panose="020B0609020204030204" pitchFamily="49" charset="0"/>
              </a:rPr>
            </a:br>
            <a:r>
              <a:rPr lang="sr-Latn-RS" sz="1800" b="1">
                <a:latin typeface="Consolas" panose="020B0609020204030204" pitchFamily="49" charset="0"/>
              </a:rPr>
              <a:t>   </a:t>
            </a:r>
            <a:r>
              <a:rPr lang="en-US" sz="1800" b="1">
                <a:latin typeface="Consolas" panose="020B0609020204030204" pitchFamily="49" charset="0"/>
              </a:rPr>
              <a:t> UsernamePasswordAuthenticationFilter.class); </a:t>
            </a:r>
          </a:p>
          <a:p>
            <a:pPr marL="0" indent="0" algn="l">
              <a:buNone/>
            </a:pPr>
            <a:endParaRPr lang="en-US" sz="180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sr-Latn-RS" sz="1800">
                <a:latin typeface="Consolas" panose="020B0609020204030204" pitchFamily="49" charset="0"/>
              </a:rPr>
              <a:t>  </a:t>
            </a:r>
            <a:r>
              <a:rPr lang="en-US" sz="1800">
                <a:latin typeface="Consolas" panose="020B0609020204030204" pitchFamily="49" charset="0"/>
              </a:rPr>
              <a:t>return http.build();</a:t>
            </a:r>
          </a:p>
          <a:p>
            <a:pPr marL="0" indent="0" algn="l">
              <a:buNone/>
            </a:pPr>
            <a:r>
              <a:rPr lang="en-US" sz="1800">
                <a:latin typeface="Consolas" panose="020B0609020204030204" pitchFamily="49" charset="0"/>
              </a:rPr>
              <a:t>}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3012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C31F8-59C6-19C6-8F54-B71CBAB2E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Autorizacija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3BF60-C9C3-319D-D664-29FCECA78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r-Latn-RS"/>
              <a:t>Može se uraditi unutar </a:t>
            </a:r>
            <a:r>
              <a:rPr lang="en-US" sz="1800">
                <a:latin typeface="Consolas" panose="020B0609020204030204" pitchFamily="49" charset="0"/>
              </a:rPr>
              <a:t>public SecurityFilterChain filterChain(HttpSecurity http)</a:t>
            </a:r>
            <a:r>
              <a:rPr lang="sr-Latn-RS"/>
              <a:t> metode</a:t>
            </a:r>
          </a:p>
          <a:p>
            <a:r>
              <a:rPr lang="sr-Latn-RS"/>
              <a:t>Ali je elegantnije da se uradi u samom REST endpointu, </a:t>
            </a:r>
            <a:r>
              <a:rPr lang="sr-Latn-RS" i="1"/>
              <a:t>@PreAutorize</a:t>
            </a:r>
            <a:r>
              <a:rPr lang="sr-Latn-RS"/>
              <a:t> anotacijom</a:t>
            </a:r>
          </a:p>
          <a:p>
            <a:r>
              <a:rPr lang="sr-Latn-RS"/>
              <a:t>Ne zaboraviti da se uključi ovaj feature unutar konfiguracione klase:</a:t>
            </a:r>
          </a:p>
          <a:p>
            <a:pPr marL="0" indent="0" algn="l">
              <a:buNone/>
            </a:pPr>
            <a:r>
              <a:rPr lang="pl-PL" sz="1800" i="1">
                <a:latin typeface="Consolas" panose="020B0609020204030204" pitchFamily="49" charset="0"/>
              </a:rPr>
              <a:t>@Configuration</a:t>
            </a:r>
          </a:p>
          <a:p>
            <a:pPr marL="0" indent="0" algn="l">
              <a:buNone/>
            </a:pPr>
            <a:r>
              <a:rPr lang="pl-PL" sz="1800" i="1">
                <a:latin typeface="Consolas" panose="020B0609020204030204" pitchFamily="49" charset="0"/>
              </a:rPr>
              <a:t>@EnableWebSecurity</a:t>
            </a:r>
          </a:p>
          <a:p>
            <a:pPr marL="0" indent="0" algn="l">
              <a:buNone/>
            </a:pPr>
            <a:r>
              <a:rPr lang="pl-PL" sz="1800" i="1">
                <a:latin typeface="Consolas" panose="020B0609020204030204" pitchFamily="49" charset="0"/>
              </a:rPr>
              <a:t>@EnableGlobalMethodSecurity(prePostEnabled = true)</a:t>
            </a:r>
          </a:p>
          <a:p>
            <a:pPr marL="0" indent="0" algn="l">
              <a:buNone/>
            </a:pPr>
            <a:r>
              <a:rPr lang="en-US" sz="1800">
                <a:latin typeface="Consolas" panose="020B0609020204030204" pitchFamily="49" charset="0"/>
              </a:rPr>
              <a:t>public class WebSecurityConfiguration </a:t>
            </a:r>
            <a:r>
              <a:rPr lang="sr-Latn-RS" sz="1800">
                <a:latin typeface="Consolas" panose="020B0609020204030204" pitchFamily="49" charset="0"/>
              </a:rPr>
              <a:t>{...}</a:t>
            </a:r>
            <a:endParaRPr lang="en-US"/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C39A46E6-1254-D2A1-7BFC-1CEEA8E1804E}"/>
              </a:ext>
            </a:extLst>
          </p:cNvPr>
          <p:cNvSpPr/>
          <p:nvPr/>
        </p:nvSpPr>
        <p:spPr>
          <a:xfrm>
            <a:off x="6980312" y="4149080"/>
            <a:ext cx="1706488" cy="612648"/>
          </a:xfrm>
          <a:prstGeom prst="wedgeRoundRectCallout">
            <a:avLst>
              <a:gd name="adj1" fmla="val -115528"/>
              <a:gd name="adj2" fmla="val 12297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i="1">
                <a:solidFill>
                  <a:schemeClr val="tx1"/>
                </a:solidFill>
                <a:latin typeface="Consolas" panose="020B0609020204030204" pitchFamily="49" charset="0"/>
              </a:rPr>
              <a:t>Obavezno za @PreAuthorize</a:t>
            </a:r>
            <a:endParaRPr lang="en-US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76364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4224B-CDDC-FCEF-1604-2DA289AB9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sr-Latn-RS"/>
              <a:t>StudentController.java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6C86A-5057-52B9-2E34-5C9267335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1800" i="1">
                <a:latin typeface="Consolas" panose="020B0609020204030204" pitchFamily="49" charset="0"/>
              </a:rPr>
              <a:t>@RestController</a:t>
            </a:r>
          </a:p>
          <a:p>
            <a:pPr marL="0" indent="0" algn="l">
              <a:buNone/>
            </a:pPr>
            <a:r>
              <a:rPr lang="en-US" sz="1800" i="1">
                <a:latin typeface="Consolas" panose="020B0609020204030204" pitchFamily="49" charset="0"/>
              </a:rPr>
              <a:t>@RequestMapping("/api/v2/student")</a:t>
            </a:r>
          </a:p>
          <a:p>
            <a:pPr marL="0" indent="0" algn="l">
              <a:buNone/>
            </a:pPr>
            <a:r>
              <a:rPr lang="en-US" sz="1800">
                <a:latin typeface="Consolas" panose="020B0609020204030204" pitchFamily="49" charset="0"/>
              </a:rPr>
              <a:t>public class StudentController {</a:t>
            </a:r>
            <a:endParaRPr lang="sr-Latn-RS" sz="180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sr-Latn-RS" sz="1800">
                <a:latin typeface="Consolas" panose="020B0609020204030204" pitchFamily="49" charset="0"/>
              </a:rPr>
              <a:t>  @Autowired</a:t>
            </a:r>
          </a:p>
          <a:p>
            <a:pPr marL="0" indent="0" algn="l">
              <a:buNone/>
            </a:pPr>
            <a:r>
              <a:rPr lang="sr-Latn-RS" sz="1800">
                <a:latin typeface="Consolas" panose="020B0609020204030204" pitchFamily="49" charset="0"/>
              </a:rPr>
              <a:t>  IStudentService service;</a:t>
            </a:r>
          </a:p>
          <a:p>
            <a:pPr marL="0" indent="0" algn="l">
              <a:buNone/>
            </a:pPr>
            <a:endParaRPr lang="sr-Latn-RS" sz="180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sr-Latn-RS" sz="1800">
                <a:latin typeface="Consolas" panose="020B0609020204030204" pitchFamily="49" charset="0"/>
              </a:rPr>
              <a:t>  @GetMapping</a:t>
            </a:r>
          </a:p>
          <a:p>
            <a:pPr marL="0" indent="0" algn="l">
              <a:buNone/>
            </a:pPr>
            <a:r>
              <a:rPr lang="sr-Latn-RS" sz="1800">
                <a:latin typeface="Consolas" panose="020B0609020204030204" pitchFamily="49" charset="0"/>
              </a:rPr>
              <a:t>  public Collection&lt;Student&gt; getStudents() {</a:t>
            </a:r>
          </a:p>
          <a:p>
            <a:pPr marL="0" indent="0" algn="l">
              <a:buNone/>
            </a:pPr>
            <a:r>
              <a:rPr lang="sr-Latn-RS" sz="1800">
                <a:latin typeface="Consolas" panose="020B0609020204030204" pitchFamily="49" charset="0"/>
              </a:rPr>
              <a:t>    return service.getAll();</a:t>
            </a:r>
          </a:p>
          <a:p>
            <a:pPr marL="0" indent="0" algn="l">
              <a:buNone/>
            </a:pPr>
            <a:r>
              <a:rPr lang="sr-Latn-RS" sz="1800">
                <a:latin typeface="Consolas" panose="020B0609020204030204" pitchFamily="49" charset="0"/>
              </a:rPr>
              <a:t>  }</a:t>
            </a:r>
          </a:p>
          <a:p>
            <a:pPr marL="0" indent="0" algn="l">
              <a:buNone/>
            </a:pPr>
            <a:endParaRPr lang="sr-Latn-RS" sz="180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sr-Latn-RS" sz="1800">
                <a:latin typeface="Consolas" panose="020B0609020204030204" pitchFamily="49" charset="0"/>
              </a:rPr>
              <a:t>  @GetMapping("/{studentId}")</a:t>
            </a:r>
          </a:p>
          <a:p>
            <a:pPr marL="0" indent="0" algn="l">
              <a:buNone/>
            </a:pPr>
            <a:r>
              <a:rPr lang="sr-Latn-RS" sz="1800">
                <a:latin typeface="Consolas" panose="020B0609020204030204" pitchFamily="49" charset="0"/>
              </a:rPr>
              <a:t>  public Student findStudentById(@PathVariable Long studentId) {</a:t>
            </a:r>
          </a:p>
          <a:p>
            <a:pPr marL="0" indent="0" algn="l">
              <a:buNone/>
            </a:pPr>
            <a:r>
              <a:rPr lang="sr-Latn-RS" sz="1800">
                <a:latin typeface="Consolas" panose="020B0609020204030204" pitchFamily="49" charset="0"/>
              </a:rPr>
              <a:t>    return service.findStudent(studentId);</a:t>
            </a:r>
          </a:p>
          <a:p>
            <a:pPr marL="0" indent="0" algn="l">
              <a:buNone/>
            </a:pPr>
            <a:r>
              <a:rPr lang="sr-Latn-RS" sz="1800">
                <a:latin typeface="Consolas" panose="020B0609020204030204" pitchFamily="49" charset="0"/>
              </a:rPr>
              <a:t>  }</a:t>
            </a:r>
          </a:p>
          <a:p>
            <a:pPr marL="0" indent="0" algn="l">
              <a:buNone/>
            </a:pPr>
            <a:endParaRPr lang="sr-Latn-RS" sz="180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sr-Latn-RS" sz="1800">
                <a:latin typeface="Consolas" panose="020B0609020204030204" pitchFamily="49" charset="0"/>
              </a:rPr>
              <a:t>  @PostMapping</a:t>
            </a:r>
          </a:p>
          <a:p>
            <a:pPr marL="0" indent="0" algn="l">
              <a:buNone/>
            </a:pPr>
            <a:r>
              <a:rPr lang="sr-Latn-RS" sz="1800">
                <a:latin typeface="Consolas" panose="020B0609020204030204" pitchFamily="49" charset="0"/>
              </a:rPr>
              <a:t>  @PreAuthorize("hasAuthority('ROLE_ADMIN')")</a:t>
            </a:r>
          </a:p>
          <a:p>
            <a:pPr marL="0" indent="0" algn="l">
              <a:buNone/>
            </a:pPr>
            <a:r>
              <a:rPr lang="sr-Latn-RS" sz="1800">
                <a:latin typeface="Consolas" panose="020B0609020204030204" pitchFamily="49" charset="0"/>
              </a:rPr>
              <a:t>  public Student insert(@RequestBody Student student) {</a:t>
            </a:r>
          </a:p>
          <a:p>
            <a:pPr marL="0" indent="0" algn="l">
              <a:buNone/>
            </a:pPr>
            <a:r>
              <a:rPr lang="sr-Latn-RS" sz="1800">
                <a:latin typeface="Consolas" panose="020B0609020204030204" pitchFamily="49" charset="0"/>
              </a:rPr>
              <a:t>    return service.insert(student);</a:t>
            </a:r>
          </a:p>
          <a:p>
            <a:pPr marL="0" indent="0" algn="l">
              <a:buNone/>
            </a:pPr>
            <a:r>
              <a:rPr lang="sr-Latn-RS" sz="1800">
                <a:latin typeface="Consolas" panose="020B0609020204030204" pitchFamily="49" charset="0"/>
              </a:rPr>
              <a:t>  }</a:t>
            </a:r>
          </a:p>
          <a:p>
            <a:pPr marL="0" indent="0" algn="l">
              <a:buNone/>
            </a:pPr>
            <a:r>
              <a:rPr lang="sr-Latn-RS" sz="1800">
                <a:latin typeface="Consolas" panose="020B0609020204030204" pitchFamily="49" charset="0"/>
              </a:rPr>
              <a:t>...</a:t>
            </a:r>
          </a:p>
          <a:p>
            <a:pPr marL="0" indent="0" algn="l">
              <a:buNone/>
            </a:pPr>
            <a:r>
              <a:rPr lang="sr-Latn-RS" sz="180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3F21169C-84C7-E1AC-C7DA-9623C3D03E77}"/>
              </a:ext>
            </a:extLst>
          </p:cNvPr>
          <p:cNvSpPr/>
          <p:nvPr/>
        </p:nvSpPr>
        <p:spPr>
          <a:xfrm>
            <a:off x="4283968" y="1556792"/>
            <a:ext cx="4608512" cy="1008112"/>
          </a:xfrm>
          <a:prstGeom prst="wedgeRoundRectCallout">
            <a:avLst>
              <a:gd name="adj1" fmla="val -65480"/>
              <a:gd name="adj2" fmla="val -1430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Consolas" panose="020B0609020204030204" pitchFamily="49" charset="0"/>
              </a:rPr>
              <a:t>.antMatchers("/api/v2/student/**").authenticated()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EFE985D6-8E83-8BCB-C1C2-E4874F33F605}"/>
              </a:ext>
            </a:extLst>
          </p:cNvPr>
          <p:cNvSpPr/>
          <p:nvPr/>
        </p:nvSpPr>
        <p:spPr>
          <a:xfrm>
            <a:off x="6444208" y="2971800"/>
            <a:ext cx="2160240" cy="612648"/>
          </a:xfrm>
          <a:prstGeom prst="wedgeRoundRectCallout">
            <a:avLst>
              <a:gd name="adj1" fmla="val -173727"/>
              <a:gd name="adj2" fmla="val -2756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>
                <a:solidFill>
                  <a:schemeClr val="tx1"/>
                </a:solidFill>
              </a:rPr>
              <a:t>Ovo mogu i USER i ADMIN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555D932E-DB66-C0C1-54C8-9738AC7709B4}"/>
              </a:ext>
            </a:extLst>
          </p:cNvPr>
          <p:cNvSpPr/>
          <p:nvPr/>
        </p:nvSpPr>
        <p:spPr>
          <a:xfrm>
            <a:off x="6804248" y="4074681"/>
            <a:ext cx="2160240" cy="612648"/>
          </a:xfrm>
          <a:prstGeom prst="wedgeRoundRectCallout">
            <a:avLst>
              <a:gd name="adj1" fmla="val -146724"/>
              <a:gd name="adj2" fmla="val -3914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>
                <a:solidFill>
                  <a:schemeClr val="tx1"/>
                </a:solidFill>
              </a:rPr>
              <a:t>Ovo mogu i USER i ADMIN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20A4483E-BC38-7782-BBAC-A757B610F2BD}"/>
              </a:ext>
            </a:extLst>
          </p:cNvPr>
          <p:cNvSpPr/>
          <p:nvPr/>
        </p:nvSpPr>
        <p:spPr>
          <a:xfrm>
            <a:off x="6499205" y="5320527"/>
            <a:ext cx="2160240" cy="612648"/>
          </a:xfrm>
          <a:prstGeom prst="wedgeRoundRectCallout">
            <a:avLst>
              <a:gd name="adj1" fmla="val -102936"/>
              <a:gd name="adj2" fmla="val -6745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>
                <a:solidFill>
                  <a:schemeClr val="tx1"/>
                </a:solidFill>
              </a:rPr>
              <a:t>Ovo može samo ADMIN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1939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821</TotalTime>
  <Words>1627</Words>
  <Application>Microsoft Office PowerPoint</Application>
  <PresentationFormat>On-screen Show (4:3)</PresentationFormat>
  <Paragraphs>218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Consolas</vt:lpstr>
      <vt:lpstr>Courier New</vt:lpstr>
      <vt:lpstr>Office Theme</vt:lpstr>
      <vt:lpstr>Inženjerstvo Serverskog Sloja prof. dr Milan Vidaković</vt:lpstr>
      <vt:lpstr>Šta su autentikacija i autorizacija?</vt:lpstr>
      <vt:lpstr>Kako bismo sve to uradili bez Spring-a?</vt:lpstr>
      <vt:lpstr>Kako bismo uradili bez Spring-a?</vt:lpstr>
      <vt:lpstr>Spring security</vt:lpstr>
      <vt:lpstr>Realizacija</vt:lpstr>
      <vt:lpstr>LoginController.java</vt:lpstr>
      <vt:lpstr>UserServiceImpl.java</vt:lpstr>
      <vt:lpstr>UserRepository.java</vt:lpstr>
      <vt:lpstr>Konfiguracija</vt:lpstr>
      <vt:lpstr>Autorizacija</vt:lpstr>
      <vt:lpstr>Autorizacija</vt:lpstr>
      <vt:lpstr>Autorizacija</vt:lpstr>
      <vt:lpstr>Autorizacija</vt:lpstr>
      <vt:lpstr>Json Web Token - JWT</vt:lpstr>
      <vt:lpstr>JWT</vt:lpstr>
      <vt:lpstr>JWT - Primer</vt:lpstr>
      <vt:lpstr>JWT - flow</vt:lpstr>
      <vt:lpstr>Uključujemo JWT u autentikaciju</vt:lpstr>
      <vt:lpstr>WebSecurityConfiguration.java</vt:lpstr>
      <vt:lpstr>Autorizacija</vt:lpstr>
      <vt:lpstr>StudentController.java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Boot</dc:title>
  <dc:creator>minja</dc:creator>
  <cp:lastModifiedBy>Milan Vidaković</cp:lastModifiedBy>
  <cp:revision>241</cp:revision>
  <dcterms:created xsi:type="dcterms:W3CDTF">2017-08-13T08:49:59Z</dcterms:created>
  <dcterms:modified xsi:type="dcterms:W3CDTF">2022-10-06T07:50:10Z</dcterms:modified>
</cp:coreProperties>
</file>